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Доля автоматизируемых задач, %</c:v>
                </c:pt>
              </c:strCache>
            </c:strRef>
          </c:tx>
          <c:dPt>
            <c:idx val="0"/>
            <c:spPr>
              <a:solidFill>
                <a:srgbClr val="C53030"/>
              </a:solidFill>
            </c:spPr>
          </c:dPt>
          <c:dPt>
            <c:idx val="1"/>
            <c:spPr>
              <a:solidFill>
                <a:srgbClr val="C53030"/>
              </a:solidFill>
            </c:spPr>
          </c:dPt>
          <c:dPt>
            <c:idx val="2"/>
            <c:spPr>
              <a:solidFill>
                <a:srgbClr val="DD6B20"/>
              </a:solidFill>
            </c:spPr>
          </c:dPt>
          <c:dPt>
            <c:idx val="3"/>
            <c:spPr>
              <a:solidFill>
                <a:srgbClr val="C53030"/>
              </a:solidFill>
            </c:spPr>
          </c:dPt>
          <c:dPt>
            <c:idx val="4"/>
            <c:spPr>
              <a:solidFill>
                <a:srgbClr val="DD6B20"/>
              </a:solidFill>
            </c:spPr>
          </c:dPt>
          <c:cat>
            <c:strRef>
              <c:f>Sheet1!$A$2:$A$6</c:f>
              <c:strCache>
                <c:ptCount val="5"/>
                <c:pt idx="0">
                  <c:v>Call-центр</c:v>
                </c:pt>
                <c:pt idx="1">
                  <c:v>Кассиры</c:v>
                </c:pt>
                <c:pt idx="2">
                  <c:v>Водители</c:v>
                </c:pt>
                <c:pt idx="3">
                  <c:v>Бухгалтеры</c:v>
                </c:pt>
                <c:pt idx="4">
                  <c:v>Конвейер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97</c:v>
                </c:pt>
                <c:pt idx="2">
                  <c:v>80</c:v>
                </c:pt>
                <c:pt idx="3">
                  <c:v>94</c:v>
                </c:pt>
                <c:pt idx="4">
                  <c:v>90</c:v>
                </c:pt>
              </c:numCache>
            </c:numRef>
          </c:val>
        </c:ser>
        <c:dLbls>
          <c:txPr>
            <a:bodyPr/>
            <a:lstStyle/>
            <a:p>
              <a:pPr>
                <a:defRPr sz="1800" b="1">
                  <a:solidFill>
                    <a:srgbClr val="21252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txPr>
          <a:bodyPr/>
          <a:lstStyle/>
          <a:p>
            <a:pPr>
              <a:defRPr sz="1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 w="9525">
              <a:solidFill>
                <a:srgbClr val="E9ECEF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solidFill>
            <a:srgbClr val="212529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Рутинные профессии</c:v>
                </c:pt>
              </c:strCache>
            </c:strRef>
          </c:tx>
          <c:spPr>
            <a:ln w="34925">
              <a:solidFill>
                <a:srgbClr val="C53030"/>
              </a:solidFill>
              <a:prstDash val="dash"/>
            </a:ln>
          </c:spPr>
          <c:cat>
            <c:strRef>
              <c:f>Sheet1!$A$2:$A$8</c:f>
              <c:strCache>
                <c:ptCount val="7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2028</c:v>
                </c:pt>
                <c:pt idx="5">
                  <c:v>2029</c:v>
                </c:pt>
                <c:pt idx="6">
                  <c:v>2030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95</c:v>
                </c:pt>
                <c:pt idx="2">
                  <c:v>89</c:v>
                </c:pt>
                <c:pt idx="3">
                  <c:v>82</c:v>
                </c:pt>
                <c:pt idx="4">
                  <c:v>74</c:v>
                </c:pt>
                <c:pt idx="5">
                  <c:v>66</c:v>
                </c:pt>
                <c:pt idx="6">
                  <c:v>58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Творческие и социальные</c:v>
                </c:pt>
              </c:strCache>
            </c:strRef>
          </c:tx>
          <c:spPr>
            <a:ln w="34925">
              <a:solidFill>
                <a:srgbClr val="2F855A"/>
              </a:solidFill>
            </a:ln>
          </c:spPr>
          <c:cat>
            <c:strRef>
              <c:f>Sheet1!$A$2:$A$8</c:f>
              <c:strCache>
                <c:ptCount val="7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</c:v>
                </c:pt>
                <c:pt idx="4">
                  <c:v>2028</c:v>
                </c:pt>
                <c:pt idx="5">
                  <c:v>2029</c:v>
                </c:pt>
                <c:pt idx="6">
                  <c:v>2030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104</c:v>
                </c:pt>
                <c:pt idx="2">
                  <c:v>109</c:v>
                </c:pt>
                <c:pt idx="3">
                  <c:v>115</c:v>
                </c:pt>
                <c:pt idx="4">
                  <c:v>122</c:v>
                </c:pt>
                <c:pt idx="5">
                  <c:v>129</c:v>
                </c:pt>
                <c:pt idx="6">
                  <c:v>137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txPr>
          <a:bodyPr/>
          <a:lstStyle/>
          <a:p>
            <a:pPr>
              <a:defRPr sz="1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9ECEF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800">
              <a:solidFill>
                <a:srgbClr val="212529"/>
              </a:solidFill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solidFill>
            <a:srgbClr val="212529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rain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07" y="612647"/>
            <a:ext cx="960120" cy="960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1965960"/>
            <a:ext cx="8778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Будущее труда в автоматизированной экономике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3794760"/>
            <a:ext cx="2194560" cy="0"/>
          </a:xfrm>
          <a:prstGeom prst="line">
            <a:avLst/>
          </a:prstGeom>
          <a:ln w="50800">
            <a:solidFill>
              <a:srgbClr val="2F85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4023360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DCE6F2"/>
                </a:solidFill>
                <a:latin typeface="Arial"/>
              </a:rPr>
              <a:t>Какие профессии сильнее всего и слабее всего подвержены влиянию 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532120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Павел Сабадаш, Никита Предков   </a:t>
            </a:r>
            <a:r>
              <a:rPr sz="1800" b="0" i="0">
                <a:solidFill>
                  <a:srgbClr val="9FB3C8"/>
                </a:solidFill>
                <a:latin typeface="Arial"/>
              </a:rPr>
              <a:t>Академическая группа IS-24   ·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A365D"/>
                </a:solidFill>
                <a:latin typeface="Arial"/>
              </a:rPr>
              <a:t>Содержание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298448"/>
            <a:ext cx="1920240" cy="0"/>
          </a:xfrm>
          <a:prstGeom prst="line">
            <a:avLst/>
          </a:prstGeom>
          <a:ln w="38100">
            <a:solidFill>
              <a:srgbClr val="1A365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58368" y="178308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83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783080"/>
            <a:ext cx="6949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Введение</a:t>
            </a:r>
            <a:r>
              <a:rPr sz="1800" b="0" i="0">
                <a:solidFill>
                  <a:srgbClr val="6C757D"/>
                </a:solidFill>
                <a:latin typeface="Arial"/>
              </a:rPr>
              <a:t>  —  масштаб проблемы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27048" y="2459736"/>
            <a:ext cx="10006279" cy="0"/>
          </a:xfrm>
          <a:prstGeom prst="line">
            <a:avLst/>
          </a:prstGeom>
          <a:ln w="9525">
            <a:solidFill>
              <a:srgbClr val="E9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658368" y="2569464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58368" y="25694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527048" y="2569464"/>
            <a:ext cx="6949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Методология оценки</a:t>
            </a:r>
            <a:r>
              <a:rPr sz="1800" b="0" i="0">
                <a:solidFill>
                  <a:srgbClr val="6C757D"/>
                </a:solidFill>
                <a:latin typeface="Arial"/>
              </a:rPr>
              <a:t>  —  как измеряют риск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1527048" y="3246120"/>
            <a:ext cx="10006279" cy="0"/>
          </a:xfrm>
          <a:prstGeom prst="line">
            <a:avLst/>
          </a:prstGeom>
          <a:ln w="9525">
            <a:solidFill>
              <a:srgbClr val="E9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658368" y="3355848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58368" y="335584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27048" y="3355848"/>
            <a:ext cx="6949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Профессии под ударом</a:t>
            </a:r>
            <a:r>
              <a:rPr sz="1800" b="0" i="0">
                <a:solidFill>
                  <a:srgbClr val="6C757D"/>
                </a:solidFill>
                <a:latin typeface="Arial"/>
              </a:rPr>
              <a:t>  —  высокий риск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1527048" y="4032504"/>
            <a:ext cx="10006279" cy="0"/>
          </a:xfrm>
          <a:prstGeom prst="line">
            <a:avLst/>
          </a:prstGeom>
          <a:ln w="9525">
            <a:solidFill>
              <a:srgbClr val="E9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658368" y="414223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58368" y="41422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527048" y="4142232"/>
            <a:ext cx="6949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Профессии вне зоны риска</a:t>
            </a:r>
            <a:r>
              <a:rPr sz="1800" b="0" i="0">
                <a:solidFill>
                  <a:srgbClr val="6C757D"/>
                </a:solidFill>
                <a:latin typeface="Arial"/>
              </a:rPr>
              <a:t>  —  устойчивые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1527048" y="4818888"/>
            <a:ext cx="10006279" cy="0"/>
          </a:xfrm>
          <a:prstGeom prst="line">
            <a:avLst/>
          </a:prstGeom>
          <a:ln w="9525">
            <a:solidFill>
              <a:srgbClr val="E9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658368" y="4928616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58368" y="492861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527048" y="4928616"/>
            <a:ext cx="6949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Прогнозы и тренды</a:t>
            </a:r>
            <a:r>
              <a:rPr sz="1800" b="0" i="0">
                <a:solidFill>
                  <a:srgbClr val="6C757D"/>
                </a:solidFill>
                <a:latin typeface="Arial"/>
              </a:rPr>
              <a:t>  —  что дальше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1527048" y="5605272"/>
            <a:ext cx="10006279" cy="0"/>
          </a:xfrm>
          <a:prstGeom prst="line">
            <a:avLst/>
          </a:prstGeom>
          <a:ln w="9525">
            <a:solidFill>
              <a:srgbClr val="E9EC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658368" y="571500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58368" y="57150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527048" y="5715000"/>
            <a:ext cx="6949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Выводы</a:t>
            </a:r>
            <a:r>
              <a:rPr sz="1800" b="0" i="0">
                <a:solidFill>
                  <a:srgbClr val="6C757D"/>
                </a:solidFill>
                <a:latin typeface="Arial"/>
              </a:rPr>
              <a:t>  —  главное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23" name="TextBox 122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2 / 13</a:t>
            </a:r>
          </a:p>
        </p:txBody>
      </p:sp>
    </p:spTree>
  </p:cSld>
  <p:clrMapOvr>
    <a:masterClrMapping/>
  </p:clrMapOvr>
  <p:timing>
    <p:tnLst>
      <p:seq concurrent="1" nextAc="seek">
        <p:cTn id="1" dur="indefinite" nodeType="mainSeq">
          <p:childTnLst>
            <p:par>
              <p:cTn id="101" fill="hold" nodeType="clickEffect">
                <p:stCondLst>
                  <p:cond delay="0"/>
                </p:stCondLst>
                <p:childTnLst>
                  <p:animEffect transition="in" filter="wipe(right)">
                    <p:cBhvr>
                      <p:cTn id="102" dur="500"/>
                      <p:tgtEl>
                        <p:spTgt spid="5"/>
                      </p:tgtEl>
                    </p:cBhvr>
                  </p:animEffect>
                </p:childTnLst>
              </p:cTn>
            </p:par>
            <p:par>
              <p:cTn id="103" fill="hold" nodeType="afterEffect">
                <p:stCondLst>
                  <p:cond delay="0"/>
                </p:stCondLst>
                <p:childTnLst>
                  <p:animEffect transition="in" filter="wipe(right)">
                    <p:cBhvr>
                      <p:cTn id="104" dur="500"/>
                      <p:tgtEl>
                        <p:spTgt spid="103"/>
                      </p:tgtEl>
                    </p:cBhvr>
                  </p:animEffect>
                </p:childTnLst>
              </p:cTn>
            </p:par>
            <p:par>
              <p:cTn id="105" fill="hold" nodeType="afterEffect">
                <p:stCondLst>
                  <p:cond delay="0"/>
                </p:stCondLst>
                <p:childTnLst>
                  <p:animEffect transition="in" filter="wipe(right)">
                    <p:cBhvr>
                      <p:cTn id="106" dur="500"/>
                      <p:tgtEl>
                        <p:spTgt spid="107"/>
                      </p:tgtEl>
                    </p:cBhvr>
                  </p:animEffect>
                </p:childTnLst>
              </p:cTn>
            </p:par>
            <p:par>
              <p:cTn id="107" fill="hold" nodeType="afterEffect">
                <p:stCondLst>
                  <p:cond delay="0"/>
                </p:stCondLst>
                <p:childTnLst>
                  <p:animEffect transition="in" filter="wipe(right)">
                    <p:cBhvr>
                      <p:cTn id="108" dur="500"/>
                      <p:tgtEl>
                        <p:spTgt spid="111"/>
                      </p:tgtEl>
                    </p:cBhvr>
                  </p:animEffect>
                </p:childTnLst>
              </p:cTn>
            </p:par>
            <p:par>
              <p:cTn id="109" fill="hold" nodeType="afterEffect">
                <p:stCondLst>
                  <p:cond delay="0"/>
                </p:stCondLst>
                <p:childTnLst>
                  <p:animEffect transition="in" filter="wipe(right)">
                    <p:cBhvr>
                      <p:cTn id="110" dur="500"/>
                      <p:tgtEl>
                        <p:spTgt spid="115"/>
                      </p:tgtEl>
                    </p:cBhvr>
                  </p:animEffect>
                </p:childTnLst>
              </p:cTn>
            </p:par>
            <p:par>
              <p:cTn id="111" fill="hold" nodeType="afterEffect">
                <p:stCondLst>
                  <p:cond delay="0"/>
                </p:stCondLst>
                <p:childTnLst>
                  <p:animEffect transition="in" filter="wipe(right)">
                    <p:cBhvr>
                      <p:cTn id="112" dur="500"/>
                      <p:tgtEl>
                        <p:spTgt spid="119"/>
                      </p:tgtEl>
                    </p:cBhvr>
                  </p:animEffect>
                </p:childTnLst>
              </p:cTn>
            </p:par>
          </p:childTnLst>
        </p:cTn>
        <p:prevCondLst/>
        <p:nextCondLst/>
      </p:seq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A365D"/>
                </a:solidFill>
                <a:latin typeface="Arial"/>
              </a:rPr>
              <a:t>Автоматизация неизбежна?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298448"/>
            <a:ext cx="1920240" cy="0"/>
          </a:xfrm>
          <a:prstGeom prst="line">
            <a:avLst/>
          </a:prstGeom>
          <a:ln w="38100">
            <a:solidFill>
              <a:srgbClr val="1A365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157276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До трети рабочего времени и половины рабочих мест уже находятся в зоне автоматизации.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48840"/>
            <a:ext cx="5208879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148840"/>
            <a:ext cx="5208879" cy="109728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468880"/>
            <a:ext cx="4477359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0" b="1" i="0">
                <a:solidFill>
                  <a:srgbClr val="1A365D"/>
                </a:solidFill>
                <a:latin typeface="Arial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4069080"/>
            <a:ext cx="44773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Arial"/>
              </a:rPr>
              <a:t>рабочих часов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4617720"/>
            <a:ext cx="4477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12529"/>
                </a:solidFill>
                <a:latin typeface="Arial"/>
              </a:rPr>
              <a:t>могут быть автоматизированы к 2030 году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5230368"/>
            <a:ext cx="44773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McKinsey Global Institute, 2023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324447" y="2148840"/>
            <a:ext cx="5208879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324447" y="2148840"/>
            <a:ext cx="5208879" cy="109728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690207" y="2468880"/>
            <a:ext cx="4477359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0" b="1" i="0">
                <a:solidFill>
                  <a:srgbClr val="DD6B20"/>
                </a:solidFill>
                <a:latin typeface="Arial"/>
              </a:rPr>
              <a:t>40%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690207" y="4069080"/>
            <a:ext cx="44773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Arial"/>
              </a:rPr>
              <a:t>рабочих мест в мире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690207" y="4617720"/>
            <a:ext cx="44773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12529"/>
                </a:solidFill>
                <a:latin typeface="Arial"/>
              </a:rPr>
              <a:t>затронет искусственный интеллект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690207" y="5230368"/>
            <a:ext cx="44773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МВФ (IMF), 2024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22" name="TextBox 121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3 / 13</a:t>
            </a:r>
          </a:p>
        </p:txBody>
      </p:sp>
    </p:spTree>
  </p:cSld>
  <p:clrMapOvr>
    <a:masterClrMapping/>
  </p:clrMapOvr>
  <p:timing>
    <p:tnLst>
      <p:seq concurrent="1" nextAc="seek">
        <p:cTn id="1" dur="indefinite" nodeType="mainSeq">
          <p:childTnLst>
            <p:par>
              <p:cTn id="113" fill="hold" nodeType="clickEffect">
                <p:stCondLst>
                  <p:cond delay="0"/>
                </p:stCondLst>
                <p:childTnLst>
                  <p:animEffect transition="in" filter="zoom(in)">
                    <p:cBhvr>
                      <p:cTn id="114" dur="500"/>
                      <p:tgtEl>
                        <p:spTgt spid="6"/>
                      </p:tgtEl>
                    </p:cBhvr>
                  </p:animEffect>
                </p:childTnLst>
              </p:cTn>
            </p:par>
            <p:par>
              <p:cTn id="115" fill="hold" nodeType="afterEffect">
                <p:stCondLst>
                  <p:cond delay="0"/>
                </p:stCondLst>
                <p:childTnLst>
                  <p:animEffect transition="in" filter="zoom(in)">
                    <p:cBhvr>
                      <p:cTn id="116" dur="500"/>
                      <p:tgtEl>
                        <p:spTgt spid="115"/>
                      </p:tgtEl>
                    </p:cBhvr>
                  </p:animEffect>
                </p:childTnLst>
              </p:cTn>
            </p:par>
          </p:childTnLst>
        </p:cTn>
        <p:prevCondLst/>
        <p:nextCondLst/>
      </p:seq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A365D"/>
                </a:solidFill>
                <a:latin typeface="Arial"/>
              </a:rPr>
              <a:t>Критерии уязвимости профессий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298448"/>
            <a:ext cx="1920240" cy="0"/>
          </a:xfrm>
          <a:prstGeom prst="line">
            <a:avLst/>
          </a:prstGeom>
          <a:ln w="38100">
            <a:solidFill>
              <a:srgbClr val="1A365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155448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Пять факторов, по которым оценивают, насколько профессия подвержена автоматизации.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197016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331720"/>
            <a:ext cx="1970166" cy="82296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ear_1A36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391" y="2651760"/>
            <a:ext cx="960120" cy="960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" y="3794760"/>
            <a:ext cx="17507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365D"/>
                </a:solidFill>
                <a:latin typeface="Arial"/>
              </a:rPr>
              <a:t>Рутинность задач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617720"/>
            <a:ext cx="17507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чем повторяемее — тем выше риск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884566" y="2331720"/>
            <a:ext cx="197016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884566" y="2331720"/>
            <a:ext cx="1970166" cy="82296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1" name="Picture 120" descr="robot_1A36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9589" y="2651760"/>
            <a:ext cx="960120" cy="960120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2994294" y="3794760"/>
            <a:ext cx="17507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365D"/>
                </a:solidFill>
                <a:latin typeface="Arial"/>
              </a:rPr>
              <a:t>Физический труд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94294" y="4617720"/>
            <a:ext cx="17507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предсказуемые операции автоматизируют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110764" y="2331720"/>
            <a:ext cx="197016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110764" y="2331720"/>
            <a:ext cx="1970166" cy="82296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palette_1A365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5787" y="2651760"/>
            <a:ext cx="960120" cy="960120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5220492" y="3794760"/>
            <a:ext cx="17507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365D"/>
                </a:solidFill>
                <a:latin typeface="Arial"/>
              </a:rPr>
              <a:t>Творчество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220492" y="4617720"/>
            <a:ext cx="17507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нестандартные решения защищают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336962" y="2331720"/>
            <a:ext cx="197016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336962" y="2331720"/>
            <a:ext cx="1970166" cy="82296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people_1A36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1985" y="2651760"/>
            <a:ext cx="960120" cy="9601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7446690" y="3794760"/>
            <a:ext cx="17507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365D"/>
                </a:solidFill>
                <a:latin typeface="Arial"/>
              </a:rPr>
              <a:t>Социальное взаимодействие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446690" y="4617720"/>
            <a:ext cx="17507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работа с людьми устойчива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563160" y="2331720"/>
            <a:ext cx="197016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9563160" y="2331720"/>
            <a:ext cx="1970166" cy="82296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6" name="Picture 135" descr="heart_1A365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68184" y="2651760"/>
            <a:ext cx="960120" cy="960120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9672888" y="3794760"/>
            <a:ext cx="17507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365D"/>
                </a:solidFill>
                <a:latin typeface="Arial"/>
              </a:rPr>
              <a:t>Эмпатия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672888" y="4617720"/>
            <a:ext cx="17507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сопереживание машине недоступно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40" name="TextBox 139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4 / 13</a:t>
            </a:r>
          </a:p>
        </p:txBody>
      </p:sp>
    </p:spTree>
  </p:cSld>
  <p:clrMapOvr>
    <a:masterClrMapping/>
  </p:clrMapOvr>
  <p:timing>
    <p:tnLst>
      <p:seq concurrent="1" nextAc="seek">
        <p:cTn id="1" dur="indefinite" nodeType="mainSeq">
          <p:childTnLst>
            <p:par>
              <p:cTn id="117" fill="hold" nodeType="clickEffect">
                <p:stCondLst>
                  <p:cond delay="0"/>
                </p:stCondLst>
                <p:childTnLst>
                  <p:animEffect transition="in" filter="fade">
                    <p:cBhvr>
                      <p:cTn id="118" dur="500"/>
                      <p:tgtEl>
                        <p:spTgt spid="6"/>
                      </p:tgtEl>
                    </p:cBhvr>
                  </p:animEffect>
                </p:childTnLst>
              </p:cTn>
            </p:par>
            <p:par>
              <p:cTn id="119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120" dur="500"/>
                      <p:tgtEl>
                        <p:spTgt spid="119"/>
                      </p:tgtEl>
                    </p:cBhvr>
                  </p:animEffect>
                </p:childTnLst>
              </p:cTn>
            </p:par>
            <p:par>
              <p:cTn id="121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122" dur="500"/>
                      <p:tgtEl>
                        <p:spTgt spid="124"/>
                      </p:tgtEl>
                    </p:cBhvr>
                  </p:animEffect>
                </p:childTnLst>
              </p:cTn>
            </p:par>
            <p:par>
              <p:cTn id="123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124" dur="500"/>
                      <p:tgtEl>
                        <p:spTgt spid="129"/>
                      </p:tgtEl>
                    </p:cBhvr>
                  </p:animEffect>
                </p:childTnLst>
              </p:cTn>
            </p:par>
            <p:par>
              <p:cTn id="125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126" dur="500"/>
                      <p:tgtEl>
                        <p:spTgt spid="134"/>
                      </p:tgtEl>
                    </p:cBhvr>
                  </p:animEffect>
                </p:childTnLst>
              </p:cTn>
            </p:par>
          </p:childTnLst>
        </p:cTn>
        <p:prevCondLst/>
        <p:nextCondLst/>
      </p:seq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C53030"/>
                </a:solidFill>
                <a:latin typeface="Arial"/>
              </a:rPr>
              <a:t>Под ударом: высокий риск автоматизации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298448"/>
            <a:ext cx="1920240" cy="0"/>
          </a:xfrm>
          <a:prstGeom prst="line">
            <a:avLst/>
          </a:prstGeom>
          <a:ln w="38100">
            <a:solidFill>
              <a:srgbClr val="C5303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58368" y="1691640"/>
            <a:ext cx="1087495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91640"/>
            <a:ext cx="128016" cy="804672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adset_C53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1819656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55648" y="1691640"/>
            <a:ext cx="51206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Операторы call-центров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59168" y="1691640"/>
            <a:ext cx="4291279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скриптовые диалоги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58368" y="2624328"/>
            <a:ext cx="1087495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58368" y="2624328"/>
            <a:ext cx="128016" cy="804672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cart_C530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2752344"/>
            <a:ext cx="548640" cy="54864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1755648" y="2624328"/>
            <a:ext cx="51206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Кассиры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059168" y="2624328"/>
            <a:ext cx="4291279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стандартные транзакции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58368" y="3557016"/>
            <a:ext cx="1087495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58368" y="3557016"/>
            <a:ext cx="128016" cy="804672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6" name="Picture 135" descr="car_C530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3685032"/>
            <a:ext cx="548640" cy="548640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1755648" y="3557016"/>
            <a:ext cx="51206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Водители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059168" y="3557016"/>
            <a:ext cx="4291279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беспилотные технологии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58368" y="4489704"/>
            <a:ext cx="1087495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658368" y="4489704"/>
            <a:ext cx="128016" cy="804672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1" name="Picture 140" descr="calc_C530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" y="4617720"/>
            <a:ext cx="548640" cy="548640"/>
          </a:xfrm>
          <a:prstGeom prst="rect">
            <a:avLst/>
          </a:prstGeom>
        </p:spPr>
      </p:pic>
      <p:sp>
        <p:nvSpPr>
          <p:cNvPr id="142" name="TextBox 141"/>
          <p:cNvSpPr txBox="1"/>
          <p:nvPr/>
        </p:nvSpPr>
        <p:spPr>
          <a:xfrm>
            <a:off x="1755648" y="4489704"/>
            <a:ext cx="51206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Бухгалтеры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059168" y="4489704"/>
            <a:ext cx="4291279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рутинный учёт и отчётность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58368" y="5422392"/>
            <a:ext cx="1087495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58368" y="5422392"/>
            <a:ext cx="128016" cy="804672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6" name="Picture 145" descr="gear_C530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264" y="5550407"/>
            <a:ext cx="548640" cy="54864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1755648" y="5422392"/>
            <a:ext cx="512064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Работники конвейера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059168" y="5422392"/>
            <a:ext cx="4291279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повторяющиеся операции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Акцент — риск автоматизации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5 / 13</a:t>
            </a:r>
          </a:p>
        </p:txBody>
      </p:sp>
    </p:spTree>
  </p:cSld>
  <p:clrMapOvr>
    <a:masterClrMapping/>
  </p:clrMapOvr>
  <p:timing>
    <p:tnLst>
      <p:seq concurrent="1" nextAc="seek">
        <p:cTn id="1" dur="indefinite" nodeType="mainSeq">
          <p:childTnLst>
            <p:par>
              <p:cTn id="127" fill="hold" nodeType="clickEffect">
                <p:stCondLst>
                  <p:cond delay="0"/>
                </p:stCondLst>
                <p:childTnLst>
                  <p:animEffect transition="in" filter="wipe(left)">
                    <p:cBhvr>
                      <p:cTn id="128" dur="500"/>
                      <p:tgtEl>
                        <p:spTgt spid="5"/>
                      </p:tgtEl>
                    </p:cBhvr>
                  </p:animEffect>
                </p:childTnLst>
              </p:cTn>
            </p:par>
            <p:par>
              <p:cTn id="129" fill="hold" nodeType="afterEffect">
                <p:stCondLst>
                  <p:cond delay="0"/>
                </p:stCondLst>
                <p:childTnLst>
                  <p:animEffect transition="in" filter="wipe(left)">
                    <p:cBhvr>
                      <p:cTn id="130" dur="500"/>
                      <p:tgtEl>
                        <p:spTgt spid="129"/>
                      </p:tgtEl>
                    </p:cBhvr>
                  </p:animEffect>
                </p:childTnLst>
              </p:cTn>
            </p:par>
            <p:par>
              <p:cTn id="131" fill="hold" nodeType="afterEffect">
                <p:stCondLst>
                  <p:cond delay="0"/>
                </p:stCondLst>
                <p:childTnLst>
                  <p:animEffect transition="in" filter="wipe(left)">
                    <p:cBhvr>
                      <p:cTn id="132" dur="500"/>
                      <p:tgtEl>
                        <p:spTgt spid="134"/>
                      </p:tgtEl>
                    </p:cBhvr>
                  </p:animEffect>
                </p:childTnLst>
              </p:cTn>
            </p:par>
            <p:par>
              <p:cTn id="133" fill="hold" nodeType="afterEffect">
                <p:stCondLst>
                  <p:cond delay="0"/>
                </p:stCondLst>
                <p:childTnLst>
                  <p:animEffect transition="in" filter="wipe(left)">
                    <p:cBhvr>
                      <p:cTn id="134" dur="500"/>
                      <p:tgtEl>
                        <p:spTgt spid="139"/>
                      </p:tgtEl>
                    </p:cBhvr>
                  </p:animEffect>
                </p:childTnLst>
              </p:cTn>
            </p:par>
            <p:par>
              <p:cTn id="135" fill="hold" nodeType="afterEffect">
                <p:stCondLst>
                  <p:cond delay="0"/>
                </p:stCondLst>
                <p:childTnLst>
                  <p:animEffect transition="in" filter="wipe(left)">
                    <p:cBhvr>
                      <p:cTn id="136" dur="500"/>
                      <p:tgtEl>
                        <p:spTgt spid="144"/>
                      </p:tgtEl>
                    </p:cBhvr>
                  </p:animEffect>
                </p:childTnLst>
              </p:cTn>
            </p:par>
          </p:childTnLst>
        </p:cTn>
        <p:prevCondLst/>
        <p:nextCondLst/>
      </p:seq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A365D"/>
                </a:solidFill>
                <a:latin typeface="Arial"/>
              </a:rPr>
              <a:t>Насколько автоматизируемы задачи?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298448"/>
            <a:ext cx="1920240" cy="0"/>
          </a:xfrm>
          <a:prstGeom prst="line">
            <a:avLst/>
          </a:prstGeom>
          <a:ln w="38100">
            <a:solidFill>
              <a:srgbClr val="1A365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155448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Вероятность автоматизации профессий, % задач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49808" y="2011680"/>
          <a:ext cx="10692079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989320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Источник: Frey &amp; Osborne, 2017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F855A"/>
                </a:solidFill>
                <a:latin typeface="Arial"/>
              </a:rPr>
              <a:t>Вне зоны риска: устойчивые профессии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298448"/>
            <a:ext cx="1920240" cy="0"/>
          </a:xfrm>
          <a:prstGeom prst="line">
            <a:avLst/>
          </a:prstGeom>
          <a:ln w="38100">
            <a:solidFill>
              <a:srgbClr val="2F85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58368" y="1691640"/>
            <a:ext cx="1087495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91640"/>
            <a:ext cx="128016" cy="804672"/>
          </a:xfrm>
          <a:prstGeom prst="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etho_2F85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1819656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55648" y="1691640"/>
            <a:ext cx="548640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Врачи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4928" y="1691640"/>
            <a:ext cx="3925519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диагноз, ответственность, эмпатия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58368" y="2624328"/>
            <a:ext cx="1087495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658368" y="2624328"/>
            <a:ext cx="128016" cy="804672"/>
          </a:xfrm>
          <a:prstGeom prst="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1" name="Picture 140" descr="teacher_2F85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2752344"/>
            <a:ext cx="548640" cy="548640"/>
          </a:xfrm>
          <a:prstGeom prst="rect">
            <a:avLst/>
          </a:prstGeom>
        </p:spPr>
      </p:pic>
      <p:sp>
        <p:nvSpPr>
          <p:cNvPr id="142" name="TextBox 141"/>
          <p:cNvSpPr txBox="1"/>
          <p:nvPr/>
        </p:nvSpPr>
        <p:spPr>
          <a:xfrm>
            <a:off x="1755648" y="2624328"/>
            <a:ext cx="548640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Учителя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24928" y="2624328"/>
            <a:ext cx="3925519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наставничество и мотивация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58368" y="3557016"/>
            <a:ext cx="1087495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58368" y="3557016"/>
            <a:ext cx="128016" cy="804672"/>
          </a:xfrm>
          <a:prstGeom prst="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6" name="Picture 145" descr="brain_2F85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3685032"/>
            <a:ext cx="548640" cy="54864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1755648" y="3557016"/>
            <a:ext cx="548640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Психологи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424928" y="3557016"/>
            <a:ext cx="3925519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глубокая эмпатия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489704"/>
            <a:ext cx="1087495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658368" y="4489704"/>
            <a:ext cx="128016" cy="804672"/>
          </a:xfrm>
          <a:prstGeom prst="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1" name="Picture 150" descr="hands_2F855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" y="4617720"/>
            <a:ext cx="548640" cy="548640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1755648" y="4489704"/>
            <a:ext cx="548640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Социальные работники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424928" y="4489704"/>
            <a:ext cx="3925519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живая человеческая помощь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58368" y="5422392"/>
            <a:ext cx="1087495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658368" y="5422392"/>
            <a:ext cx="128016" cy="804672"/>
          </a:xfrm>
          <a:prstGeom prst="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6" name="Picture 155" descr="palette_2F855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264" y="5550407"/>
            <a:ext cx="548640" cy="548640"/>
          </a:xfrm>
          <a:prstGeom prst="rect">
            <a:avLst/>
          </a:prstGeom>
        </p:spPr>
      </p:pic>
      <p:sp>
        <p:nvSpPr>
          <p:cNvPr id="157" name="TextBox 156"/>
          <p:cNvSpPr txBox="1"/>
          <p:nvPr/>
        </p:nvSpPr>
        <p:spPr>
          <a:xfrm>
            <a:off x="1755648" y="5422392"/>
            <a:ext cx="548640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Творческие профессии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424928" y="5422392"/>
            <a:ext cx="3925519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художники, писатели, дизайнеры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Акцент — устойчивость к автоматизации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7 / 13</a:t>
            </a:r>
          </a:p>
        </p:txBody>
      </p:sp>
    </p:spTree>
  </p:cSld>
  <p:clrMapOvr>
    <a:masterClrMapping/>
  </p:clrMapOvr>
  <p:timing>
    <p:tnLst>
      <p:seq concurrent="1" nextAc="seek">
        <p:cTn id="1" dur="indefinite" nodeType="mainSeq">
          <p:childTnLst>
            <p:par>
              <p:cTn id="137" fill="hold" nodeType="clickEffect">
                <p:stCondLst>
                  <p:cond delay="0"/>
                </p:stCondLst>
                <p:childTnLst>
                  <p:animEffect transition="in" filter="fade">
                    <p:cBhvr>
                      <p:cTn id="138" dur="500"/>
                      <p:tgtEl>
                        <p:spTgt spid="5"/>
                      </p:tgtEl>
                    </p:cBhvr>
                  </p:animEffect>
                </p:childTnLst>
              </p:cTn>
            </p:par>
            <p:par>
              <p:cTn id="139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140" dur="500"/>
                      <p:tgtEl>
                        <p:spTgt spid="139"/>
                      </p:tgtEl>
                    </p:cBhvr>
                  </p:animEffect>
                </p:childTnLst>
              </p:cTn>
            </p:par>
            <p:par>
              <p:cTn id="141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142" dur="500"/>
                      <p:tgtEl>
                        <p:spTgt spid="144"/>
                      </p:tgtEl>
                    </p:cBhvr>
                  </p:animEffect>
                </p:childTnLst>
              </p:cTn>
            </p:par>
            <p:par>
              <p:cTn id="143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144" dur="500"/>
                      <p:tgtEl>
                        <p:spTgt spid="149"/>
                      </p:tgtEl>
                    </p:cBhvr>
                  </p:animEffect>
                </p:childTnLst>
              </p:cTn>
            </p:par>
            <p:par>
              <p:cTn id="145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146" dur="500"/>
                      <p:tgtEl>
                        <p:spTgt spid="154"/>
                      </p:tgtEl>
                    </p:cBhvr>
                  </p:animEffect>
                </p:childTnLst>
              </p:cTn>
            </p:par>
          </p:childTnLst>
        </p:cTn>
        <p:prevCondLst/>
        <p:nextCondLst/>
      </p:seq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A365D"/>
                </a:solidFill>
                <a:latin typeface="Arial"/>
              </a:rPr>
              <a:t>Риски и возможности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298448"/>
            <a:ext cx="1920240" cy="0"/>
          </a:xfrm>
          <a:prstGeom prst="line">
            <a:avLst/>
          </a:prstGeom>
          <a:ln w="38100">
            <a:solidFill>
              <a:srgbClr val="1A365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9787462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8991"/>
                <a:gridCol w="2348991"/>
                <a:gridCol w="5089480"/>
              </a:tblGrid>
              <a:tr h="6553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Профессия</a:t>
                      </a:r>
                    </a:p>
                  </a:txBody>
                  <a:tcPr marL="109728" marR="109728" anchor="ctr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Риск автоматизации</a:t>
                      </a:r>
                    </a:p>
                  </a:txBody>
                  <a:tcPr marL="109728" marR="109728" anchor="ctr"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Новые возможности</a:t>
                      </a:r>
                    </a:p>
                  </a:txBody>
                  <a:tcPr marL="109728" marR="109728" anchor="ctr">
                    <a:solidFill>
                      <a:srgbClr val="1A365D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1A365D"/>
                          </a:solidFill>
                          <a:latin typeface="Arial"/>
                        </a:rPr>
                        <a:t>Кассир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C53030"/>
                          </a:solidFill>
                          <a:latin typeface="Arial"/>
                        </a:rPr>
                        <a:t>Высокий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12529"/>
                          </a:solidFill>
                          <a:latin typeface="Arial"/>
                        </a:rPr>
                        <a:t>Оператор сервисных роботов, служба поддержки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1A365D"/>
                          </a:solidFill>
                          <a:latin typeface="Arial"/>
                        </a:rPr>
                        <a:t>Бухгалтер</a:t>
                      </a:r>
                    </a:p>
                  </a:txBody>
                  <a:tcPr marL="109728" marR="109728" anchor="ctr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C53030"/>
                          </a:solidFill>
                          <a:latin typeface="Arial"/>
                        </a:rPr>
                        <a:t>Высокий</a:t>
                      </a:r>
                    </a:p>
                  </a:txBody>
                  <a:tcPr marL="109728" marR="109728" anchor="ctr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12529"/>
                          </a:solidFill>
                          <a:latin typeface="Arial"/>
                        </a:rPr>
                        <a:t>Финансовый аналитик, аудит данных</a:t>
                      </a:r>
                    </a:p>
                  </a:txBody>
                  <a:tcPr marL="109728" marR="109728" anchor="ctr">
                    <a:solidFill>
                      <a:srgbClr val="E9ECE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1A365D"/>
                          </a:solidFill>
                          <a:latin typeface="Arial"/>
                        </a:rPr>
                        <a:t>Водитель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C53030"/>
                          </a:solidFill>
                          <a:latin typeface="Arial"/>
                        </a:rPr>
                        <a:t>Высокий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12529"/>
                          </a:solidFill>
                          <a:latin typeface="Arial"/>
                        </a:rPr>
                        <a:t>Оператор автопарка, логистика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1A365D"/>
                          </a:solidFill>
                          <a:latin typeface="Arial"/>
                        </a:rPr>
                        <a:t>Учитель</a:t>
                      </a:r>
                    </a:p>
                  </a:txBody>
                  <a:tcPr marL="109728" marR="109728" anchor="ctr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F855A"/>
                          </a:solidFill>
                          <a:latin typeface="Arial"/>
                        </a:rPr>
                        <a:t>Низкий</a:t>
                      </a:r>
                    </a:p>
                  </a:txBody>
                  <a:tcPr marL="109728" marR="109728" anchor="ctr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12529"/>
                          </a:solidFill>
                          <a:latin typeface="Arial"/>
                        </a:rPr>
                        <a:t>Методист онлайн-курсов, тьютор</a:t>
                      </a:r>
                    </a:p>
                  </a:txBody>
                  <a:tcPr marL="109728" marR="109728" anchor="ctr">
                    <a:solidFill>
                      <a:srgbClr val="E9ECE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1A365D"/>
                          </a:solidFill>
                          <a:latin typeface="Arial"/>
                        </a:rPr>
                        <a:t>Врач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F855A"/>
                          </a:solidFill>
                          <a:latin typeface="Arial"/>
                        </a:rPr>
                        <a:t>Низкий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12529"/>
                          </a:solidFill>
                          <a:latin typeface="Arial"/>
                        </a:rPr>
                        <a:t>Телемедицина, аналитик медданных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852160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Одна и та же профессия может терять рутинные задачи и получать новые роли.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50" name="TextBox 149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8 / 13</a:t>
            </a:r>
          </a:p>
        </p:txBody>
      </p:sp>
    </p:spTree>
  </p:cSld>
  <p:clrMapOvr>
    <a:masterClrMapping/>
  </p:clrMapOvr>
  <p:timing>
    <p:tnLst>
      <p:seq concurrent="1" nextAc="seek">
        <p:cTn id="1" dur="indefinite" nodeType="mainSeq">
          <p:childTnLst>
            <p:par>
              <p:cTn id="147" fill="hold" nodeType="clickEffect">
                <p:stCondLst>
                  <p:cond delay="0"/>
                </p:stCondLst>
                <p:childTnLst>
                  <p:animEffect transition="in" filter="fade">
                    <p:cBhvr>
                      <p:cTn id="148" dur="500"/>
                      <p:tgtEl>
                        <p:spTgt spid="5"/>
                      </p:tgtEl>
                    </p:cBhvr>
                  </p:animEffect>
                </p:childTnLst>
              </p:cTn>
            </p:par>
          </p:childTnLst>
        </p:cTn>
        <p:prevCondLst/>
        <p:nextCondLst/>
      </p:seq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A365D"/>
                </a:solidFill>
                <a:latin typeface="Arial"/>
              </a:rPr>
              <a:t>Кем станут люди?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298448"/>
            <a:ext cx="1920240" cy="0"/>
          </a:xfrm>
          <a:prstGeom prst="line">
            <a:avLst/>
          </a:prstGeom>
          <a:ln w="38100">
            <a:solidFill>
              <a:srgbClr val="1A365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155448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Вместе с автоматизацией появляются новые профессии на стыке человека и ИИ.</a:t>
            </a:r>
          </a:p>
        </p:txBody>
      </p:sp>
      <p:pic>
        <p:nvPicPr>
          <p:cNvPr id="6" name="Picture 5" descr="people_1A36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80360"/>
            <a:ext cx="1051560" cy="1051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55648" y="36118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365D"/>
                </a:solidFill>
                <a:latin typeface="Arial"/>
              </a:rPr>
              <a:t>Человек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2808" y="315468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F855A"/>
                </a:solidFill>
                <a:latin typeface="Arial"/>
              </a:rPr>
              <a:t>+</a:t>
            </a:r>
          </a:p>
        </p:txBody>
      </p:sp>
      <p:pic>
        <p:nvPicPr>
          <p:cNvPr id="9" name="Picture 8" descr="robot_2F85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2880360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70048" y="361188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F855A"/>
                </a:solidFill>
                <a:latin typeface="Arial"/>
              </a:rPr>
              <a:t>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20624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Новые роли</a:t>
            </a:r>
          </a:p>
        </p:txBody>
      </p:sp>
      <p:pic>
        <p:nvPicPr>
          <p:cNvPr id="12" name="Picture 11" descr="code_1A365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128" y="1929384"/>
            <a:ext cx="603504" cy="603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76088" y="1874519"/>
            <a:ext cx="6257239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365D"/>
                </a:solidFill>
                <a:latin typeface="Arial"/>
              </a:rPr>
              <a:t>Инженер по машинному обучению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строит и обучает модели</a:t>
            </a:r>
          </a:p>
        </p:txBody>
      </p:sp>
      <p:pic>
        <p:nvPicPr>
          <p:cNvPr id="14" name="Picture 13" descr="scale_1A36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3128" y="2862072"/>
            <a:ext cx="603504" cy="60350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76088" y="2807208"/>
            <a:ext cx="6257239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365D"/>
                </a:solidFill>
                <a:latin typeface="Arial"/>
              </a:rPr>
              <a:t>Специалист по этике ИИ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правила и ответственность</a:t>
            </a:r>
          </a:p>
        </p:txBody>
      </p:sp>
      <p:pic>
        <p:nvPicPr>
          <p:cNvPr id="16" name="Picture 15" descr="book_1A365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3128" y="3794759"/>
            <a:ext cx="603504" cy="6035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76088" y="3739896"/>
            <a:ext cx="6257239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365D"/>
                </a:solidFill>
                <a:latin typeface="Arial"/>
              </a:rPr>
              <a:t>Тренер ИИ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готовит данные и оценивает качество</a:t>
            </a:r>
          </a:p>
        </p:txBody>
      </p:sp>
      <p:pic>
        <p:nvPicPr>
          <p:cNvPr id="18" name="Picture 17" descr="analytics_1A365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53128" y="4727447"/>
            <a:ext cx="603504" cy="60350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76088" y="4672583"/>
            <a:ext cx="6257239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365D"/>
                </a:solidFill>
                <a:latin typeface="Arial"/>
              </a:rPr>
              <a:t>Аналитик данных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превращает данные в решения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A365D"/>
                </a:solidFill>
                <a:latin typeface="Arial"/>
              </a:rPr>
              <a:t>Что нас ждёт? Прогноз до 2030 года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298448"/>
            <a:ext cx="1920240" cy="0"/>
          </a:xfrm>
          <a:prstGeom prst="line">
            <a:avLst/>
          </a:prstGeom>
          <a:ln w="38100">
            <a:solidFill>
              <a:srgbClr val="1A365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155448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Спрос на профессии, 2024 = 100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49808" y="1965960"/>
          <a:ext cx="10692079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943600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Источники: Всемирный экономический форум (WEF), PwC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A365D"/>
                </a:solidFill>
                <a:latin typeface="Arial"/>
              </a:rPr>
              <a:t>Навыки будущего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298448"/>
            <a:ext cx="1920240" cy="0"/>
          </a:xfrm>
          <a:prstGeom prst="line">
            <a:avLst/>
          </a:prstGeom>
          <a:ln w="38100">
            <a:solidFill>
              <a:srgbClr val="1A365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155448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Четыре опоры адаптации к автоматизированной экономике.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520887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286000"/>
            <a:ext cx="128016" cy="1737360"/>
          </a:xfrm>
          <a:prstGeom prst="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ok_2F85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670048"/>
            <a:ext cx="914400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67128" y="2542032"/>
            <a:ext cx="3471519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Непрерывное обучение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учиться всю жизнь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324447" y="2286000"/>
            <a:ext cx="520887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324447" y="2286000"/>
            <a:ext cx="128016" cy="1737360"/>
          </a:xfrm>
          <a:prstGeom prst="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Picture 152" descr="people_2F85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0207" y="2670048"/>
            <a:ext cx="914400" cy="914400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7833207" y="2542032"/>
            <a:ext cx="3471519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Soft skills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эмпатия и коммуникация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58368" y="4434840"/>
            <a:ext cx="520887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658368" y="4434840"/>
            <a:ext cx="128016" cy="1737360"/>
          </a:xfrm>
          <a:prstGeom prst="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code_2F85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4818888"/>
            <a:ext cx="914400" cy="914400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2167128" y="4690872"/>
            <a:ext cx="3471519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Цифровая грамотность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работа с данными и ИИ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324447" y="4434840"/>
            <a:ext cx="5208879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C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6324447" y="4434840"/>
            <a:ext cx="128016" cy="1737360"/>
          </a:xfrm>
          <a:prstGeom prst="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brain_2F855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0207" y="4818888"/>
            <a:ext cx="914400" cy="914400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7833207" y="4690872"/>
            <a:ext cx="3471519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365D"/>
                </a:solidFill>
                <a:latin typeface="Arial"/>
              </a:rPr>
              <a:t>Критическое мышление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проверять и решать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64" name="TextBox 16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11 / 13</a:t>
            </a:r>
          </a:p>
        </p:txBody>
      </p:sp>
    </p:spTree>
  </p:cSld>
  <p:clrMapOvr>
    <a:masterClrMapping/>
  </p:clrMapOvr>
  <p:timing>
    <p:tnLst>
      <p:seq concurrent="1" nextAc="seek">
        <p:cTn id="1" dur="indefinite" nodeType="mainSeq">
          <p:childTnLst>
            <p:par>
              <p:cTn id="149" fill="hold" nodeType="clickEffect">
                <p:stCondLst>
                  <p:cond delay="0"/>
                </p:stCondLst>
                <p:childTnLst>
                  <p:animEffect transition="in" filter="fade">
                    <p:cBhvr>
                      <p:cTn id="150" dur="500"/>
                      <p:tgtEl>
                        <p:spTgt spid="6"/>
                      </p:tgtEl>
                    </p:cBhvr>
                  </p:animEffect>
                </p:childTnLst>
              </p:cTn>
            </p:par>
            <p:par>
              <p:cTn id="151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152" dur="500"/>
                      <p:tgtEl>
                        <p:spTgt spid="151"/>
                      </p:tgtEl>
                    </p:cBhvr>
                  </p:animEffect>
                </p:childTnLst>
              </p:cTn>
            </p:par>
            <p:par>
              <p:cTn id="153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154" dur="500"/>
                      <p:tgtEl>
                        <p:spTgt spid="155"/>
                      </p:tgtEl>
                    </p:cBhvr>
                  </p:animEffect>
                </p:childTnLst>
              </p:cTn>
            </p:par>
            <p:par>
              <p:cTn id="155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156" dur="500"/>
                      <p:tgtEl>
                        <p:spTgt spid="159"/>
                      </p:tgtEl>
                    </p:cBhvr>
                  </p:animEffect>
                </p:childTnLst>
              </p:cTn>
            </p:par>
          </p:childTnLst>
        </p:cTn>
        <p:prevCondLst/>
        <p:nextCondLst/>
      </p:seq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A365D"/>
                </a:solidFill>
                <a:latin typeface="Arial"/>
              </a:rPr>
              <a:t>Главное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298448"/>
            <a:ext cx="1920240" cy="0"/>
          </a:xfrm>
          <a:prstGeom prst="line">
            <a:avLst/>
          </a:prstGeom>
          <a:ln w="38100">
            <a:solidFill>
              <a:srgbClr val="1A365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58368" y="1920240"/>
            <a:ext cx="109728" cy="914400"/>
          </a:xfrm>
          <a:prstGeom prst="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1920240"/>
            <a:ext cx="103720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F855A"/>
                </a:solidFill>
                <a:latin typeface="Arial"/>
              </a:rPr>
              <a:t>1.  </a:t>
            </a:r>
            <a:r>
              <a:rPr sz="2600" b="1" i="0">
                <a:solidFill>
                  <a:srgbClr val="1A365D"/>
                </a:solidFill>
                <a:latin typeface="Arial"/>
              </a:rPr>
              <a:t>ИИ не уничтожает профессии — он меняет их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090672"/>
            <a:ext cx="109728" cy="914400"/>
          </a:xfrm>
          <a:prstGeom prst="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3090672"/>
            <a:ext cx="103720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F855A"/>
                </a:solidFill>
                <a:latin typeface="Arial"/>
              </a:rPr>
              <a:t>2.  </a:t>
            </a:r>
            <a:r>
              <a:rPr sz="2600" b="1" i="0">
                <a:solidFill>
                  <a:srgbClr val="1A365D"/>
                </a:solidFill>
                <a:latin typeface="Arial"/>
              </a:rPr>
              <a:t>Уникальные человеческие навыки — главный актив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61104"/>
            <a:ext cx="109728" cy="914400"/>
          </a:xfrm>
          <a:prstGeom prst="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4261104"/>
            <a:ext cx="103720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F855A"/>
                </a:solidFill>
                <a:latin typeface="Arial"/>
              </a:rPr>
              <a:t>3.  </a:t>
            </a:r>
            <a:r>
              <a:rPr sz="2600" b="1" i="0">
                <a:solidFill>
                  <a:srgbClr val="1A365D"/>
                </a:solidFill>
                <a:latin typeface="Arial"/>
              </a:rPr>
              <a:t>Адаптация идёт через непрерывное обучение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C757D"/>
                </a:solidFill>
                <a:latin typeface="Arial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2606040"/>
            <a:ext cx="2194560" cy="0"/>
          </a:xfrm>
          <a:prstGeom prst="line">
            <a:avLst/>
          </a:prstGeom>
          <a:ln w="50800">
            <a:solidFill>
              <a:srgbClr val="2F85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2834640"/>
            <a:ext cx="7498079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F855A"/>
                </a:solidFill>
                <a:latin typeface="Arial"/>
              </a:rPr>
              <a:t>Источники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CE6F2"/>
                </a:solidFill>
                <a:latin typeface="Arial"/>
              </a:rPr>
              <a:t>•  Frey C. B., Osborne M. A. The Future of Employment. Oxford, 2017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CE6F2"/>
                </a:solidFill>
                <a:latin typeface="Arial"/>
              </a:rPr>
              <a:t>•  McKinsey Global Institute. Generative AI and the Future of Work, 2023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CE6F2"/>
                </a:solidFill>
                <a:latin typeface="Arial"/>
              </a:rPr>
              <a:t>•  IMF. Gen-AI: Artificial Intelligence and the Future of Work, 2024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CE6F2"/>
                </a:solidFill>
                <a:latin typeface="Arial"/>
              </a:rPr>
              <a:t>•  World Economic Forum. Future of Jobs Report, 2025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CE6F2"/>
                </a:solidFill>
                <a:latin typeface="Arial"/>
              </a:rPr>
              <a:t>•  PwC. Global Workforce Hopes and Fears Survey, 2023</a:t>
            </a:r>
          </a:p>
        </p:txBody>
      </p:sp>
      <p:pic>
        <p:nvPicPr>
          <p:cNvPr id="7" name="Picture 6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4487" y="2743200"/>
            <a:ext cx="2148840" cy="2148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84487" y="4983480"/>
            <a:ext cx="2148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DCE6F2"/>
                </a:solidFill>
                <a:latin typeface="Arial"/>
              </a:rPr>
              <a:t>Проект на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85216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9FB3C8"/>
                </a:solidFill>
                <a:latin typeface="Arial"/>
              </a:rPr>
              <a:t>Павел Сабадаш, Никита Предков   ·   Академическая группа IS-24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