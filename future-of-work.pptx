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автоматизируемых задач, %</c:v>
                </c:pt>
              </c:strCache>
            </c:strRef>
          </c:tx>
          <c:dPt>
            <c:idx val="0"/>
            <c:spPr>
              <a:solidFill>
                <a:srgbClr val="DD6B20"/>
              </a:solidFill>
            </c:spPr>
          </c:dPt>
          <c:dPt>
            <c:idx val="1"/>
            <c:spPr>
              <a:solidFill>
                <a:srgbClr val="DD6B20"/>
              </a:solidFill>
            </c:spPr>
          </c:dPt>
          <c:dPt>
            <c:idx val="2"/>
            <c:spPr>
              <a:solidFill>
                <a:srgbClr val="1A365D"/>
              </a:solidFill>
            </c:spPr>
          </c:dPt>
          <c:dPt>
            <c:idx val="3"/>
            <c:spPr>
              <a:solidFill>
                <a:srgbClr val="DD6B20"/>
              </a:solidFill>
            </c:spPr>
          </c:dPt>
          <c:dPt>
            <c:idx val="4"/>
            <c:spPr>
              <a:solidFill>
                <a:srgbClr val="1A365D"/>
              </a:solidFill>
            </c:spPr>
          </c:dPt>
          <c:cat>
            <c:strRef>
              <c:f>Sheet1!$A$2:$A$6</c:f>
              <c:strCache>
                <c:ptCount val="5"/>
                <c:pt idx="0">
                  <c:v>Call-центр</c:v>
                </c:pt>
                <c:pt idx="1">
                  <c:v>Кассиры</c:v>
                </c:pt>
                <c:pt idx="2">
                  <c:v>Водители</c:v>
                </c:pt>
                <c:pt idx="3">
                  <c:v>Бухгалтеры</c:v>
                </c:pt>
                <c:pt idx="4">
                  <c:v>Конвейер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</c:v>
                </c:pt>
                <c:pt idx="1">
                  <c:v>97</c:v>
                </c:pt>
                <c:pt idx="2">
                  <c:v>80</c:v>
                </c:pt>
                <c:pt idx="3">
                  <c:v>94</c:v>
                </c:pt>
                <c:pt idx="4">
                  <c:v>90</c:v>
                </c:pt>
              </c:numCache>
            </c:numRef>
          </c:val>
        </c:ser>
        <c:dLbls>
          <c:txPr>
            <a:bodyPr/>
            <a:lstStyle/>
            <a:p>
              <a:pPr>
                <a:defRPr sz="1800" b="1">
                  <a:solidFill>
                    <a:srgbClr val="21252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C757D"/>
            </a:solidFill>
          </a:ln>
        </c:spPr>
        <c:txPr>
          <a:bodyPr/>
          <a:lstStyle/>
          <a:p>
            <a:pPr>
              <a:defRPr sz="1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9525">
              <a:solidFill>
                <a:srgbClr val="E9ECE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21252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Рутинные профессии</c:v>
                </c:pt>
              </c:strCache>
            </c:strRef>
          </c:tx>
          <c:spPr>
            <a:ln w="34925">
              <a:solidFill>
                <a:srgbClr val="DD6B20"/>
              </a:solidFill>
              <a:prstDash val="dash"/>
            </a:ln>
          </c:spPr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95</c:v>
                </c:pt>
                <c:pt idx="2">
                  <c:v>89</c:v>
                </c:pt>
                <c:pt idx="3">
                  <c:v>82</c:v>
                </c:pt>
                <c:pt idx="4">
                  <c:v>74</c:v>
                </c:pt>
                <c:pt idx="5">
                  <c:v>66</c:v>
                </c:pt>
                <c:pt idx="6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Творческие и социальные</c:v>
                </c:pt>
              </c:strCache>
            </c:strRef>
          </c:tx>
          <c:spPr>
            <a:ln w="34925">
              <a:solidFill>
                <a:srgbClr val="1A365D"/>
              </a:solidFill>
            </a:ln>
          </c:spPr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</c:v>
                </c:pt>
                <c:pt idx="1">
                  <c:v>104</c:v>
                </c:pt>
                <c:pt idx="2">
                  <c:v>109</c:v>
                </c:pt>
                <c:pt idx="3">
                  <c:v>115</c:v>
                </c:pt>
                <c:pt idx="4">
                  <c:v>122</c:v>
                </c:pt>
                <c:pt idx="5">
                  <c:v>129</c:v>
                </c:pt>
                <c:pt idx="6">
                  <c:v>137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C757D"/>
            </a:solidFill>
          </a:ln>
        </c:spPr>
        <c:txPr>
          <a:bodyPr/>
          <a:lstStyle/>
          <a:p>
            <a:pPr>
              <a:defRPr sz="1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E9ECE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800">
              <a:solidFill>
                <a:srgbClr val="212529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>
          <a:solidFill>
            <a:srgbClr val="21252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19695" y="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19695" y="42062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19695" y="84124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19695" y="126187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19695" y="16824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19695" y="210312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19695" y="252374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19695" y="29443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9695" y="336499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19695" y="378561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19695" y="4206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19695" y="462686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19695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9695" y="546811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19695" y="58887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19695" y="63093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19695" y="672998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0319" y="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0319" y="42062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0319" y="84124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40319" y="126187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40319" y="16824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40319" y="210312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0319" y="252374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40319" y="29443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40319" y="336499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40319" y="378561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40319" y="4206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40319" y="462686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40319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40319" y="546811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40319" y="58887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040319" y="63093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040319" y="672998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460943" y="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60943" y="42062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460943" y="84124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60943" y="126187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460943" y="16824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460943" y="210312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60943" y="252374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460943" y="29443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460943" y="336499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60943" y="378561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60943" y="4206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60943" y="462686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60943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460943" y="546811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460943" y="58887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460943" y="63093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460943" y="672998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881567" y="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881567" y="42062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881567" y="84124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881567" y="126187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881567" y="16824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881567" y="210312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881567" y="252374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881567" y="29443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881567" y="336499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881567" y="378561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81567" y="4206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881567" y="462686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881567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1567" y="546811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881567" y="58887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81567" y="63093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881567" y="672998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02191" y="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302191" y="42062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02191" y="84124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02191" y="126187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02191" y="16824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302191" y="210312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302191" y="252374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302191" y="29443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302191" y="336499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302191" y="378561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302191" y="4206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302191" y="462686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302191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02191" y="546811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302191" y="58887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302191" y="63093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02191" y="672998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722815" y="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722815" y="42062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722815" y="84124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722815" y="126187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722815" y="16824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722815" y="210312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22815" y="252374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722815" y="29443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722815" y="336499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722815" y="378561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722815" y="4206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722815" y="462686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722815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722815" y="546811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9722815" y="58887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722815" y="63093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9722815" y="672998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0143439" y="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0143439" y="42062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0143439" y="84124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0143439" y="126187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143439" y="16824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143439" y="210312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0143439" y="252374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0143439" y="29443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0143439" y="336499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0143439" y="378561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143439" y="4206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143439" y="462686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143439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0143439" y="546811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0143439" y="58887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0143439" y="63093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143439" y="672998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0564063" y="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564063" y="42062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0564063" y="84124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0564063" y="126187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0564063" y="16824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564063" y="210312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564063" y="252374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0564063" y="29443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0564063" y="336499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0564063" y="378561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0564063" y="4206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0564063" y="462686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0564063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0564063" y="546811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0564063" y="58887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564063" y="63093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564063" y="672998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0984687" y="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0984687" y="42062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0984687" y="84124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984687" y="126187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0984687" y="16824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984687" y="210312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0984687" y="252374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984687" y="29443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984687" y="336499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984687" y="378561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984687" y="4206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984687" y="462686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984687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984687" y="546811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984687" y="58887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984687" y="63093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984687" y="672998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1405311" y="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1405311" y="42062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1405311" y="84124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1405311" y="126187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1405311" y="16824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405311" y="210312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405311" y="252374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405311" y="29443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405311" y="336499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405311" y="378561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405311" y="4206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405311" y="462686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405311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405311" y="546811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1405311" y="58887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405311" y="63093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1405311" y="672998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1825935" y="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1825935" y="42062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825935" y="84124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825935" y="126187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825935" y="16824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1825935" y="210312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1825935" y="252374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1825935" y="29443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1825935" y="336499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1825935" y="378561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825935" y="4206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825935" y="462686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1825935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1825935" y="546811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1825935" y="58887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1825935" y="63093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1825935" y="672998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9539569" y="136794"/>
            <a:ext cx="37307" cy="37307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9900818" y="113995"/>
            <a:ext cx="82905" cy="82905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0258958" y="88087"/>
            <a:ext cx="134721" cy="134721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0617098" y="62179"/>
            <a:ext cx="186537" cy="186537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0975238" y="36271"/>
            <a:ext cx="238353" cy="238353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1333378" y="10363"/>
            <a:ext cx="290169" cy="290169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1691518" y="-15544"/>
            <a:ext cx="341985" cy="341985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9539569" y="520842"/>
            <a:ext cx="37307" cy="37307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9903085" y="500310"/>
            <a:ext cx="78371" cy="78371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0263492" y="476669"/>
            <a:ext cx="125653" cy="125653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623899" y="453028"/>
            <a:ext cx="172935" cy="172935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0984306" y="429387"/>
            <a:ext cx="220217" cy="220217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1344713" y="405745"/>
            <a:ext cx="267500" cy="267500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1705120" y="382104"/>
            <a:ext cx="314782" cy="314782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539569" y="904890"/>
            <a:ext cx="37307" cy="37307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905352" y="886625"/>
            <a:ext cx="73837" cy="73837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0268026" y="865251"/>
            <a:ext cx="116586" cy="116586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0630700" y="843876"/>
            <a:ext cx="159334" cy="159334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0993374" y="822502"/>
            <a:ext cx="202082" cy="202082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1356047" y="801128"/>
            <a:ext cx="244830" cy="244830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1718721" y="779754"/>
            <a:ext cx="287578" cy="287578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539569" y="1288938"/>
            <a:ext cx="37307" cy="37307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907619" y="1272940"/>
            <a:ext cx="69303" cy="69303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0272560" y="1253832"/>
            <a:ext cx="107518" cy="107518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0637500" y="1234725"/>
            <a:ext cx="145732" cy="145732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1002441" y="1215618"/>
            <a:ext cx="183946" cy="183946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1367382" y="1196511"/>
            <a:ext cx="222161" cy="222161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1732323" y="1177404"/>
            <a:ext cx="260375" cy="260375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539569" y="1672986"/>
            <a:ext cx="37307" cy="37307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909886" y="1659255"/>
            <a:ext cx="64770" cy="64770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0277094" y="1642414"/>
            <a:ext cx="98450" cy="98450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0644301" y="1625574"/>
            <a:ext cx="132130" cy="132130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1011509" y="1608734"/>
            <a:ext cx="165811" cy="165811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1378717" y="1591894"/>
            <a:ext cx="199491" cy="199491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1745925" y="1575054"/>
            <a:ext cx="233172" cy="233172"/>
          </a:xfrm>
          <a:prstGeom prst="ellipse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Block Arc 224"/>
          <p:cNvSpPr/>
          <p:nvPr/>
        </p:nvSpPr>
        <p:spPr>
          <a:xfrm>
            <a:off x="8168335" y="2834639"/>
            <a:ext cx="8046720" cy="8046720"/>
          </a:xfrm>
          <a:prstGeom prst="blockArc">
            <a:avLst/>
          </a:prstGeom>
          <a:noFill/>
          <a:ln w="25400">
            <a:solidFill>
              <a:srgbClr val="2E4C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Block Arc 225"/>
          <p:cNvSpPr/>
          <p:nvPr/>
        </p:nvSpPr>
        <p:spPr>
          <a:xfrm>
            <a:off x="9082735" y="3749039"/>
            <a:ext cx="6217920" cy="6217920"/>
          </a:xfrm>
          <a:prstGeom prst="blockArc">
            <a:avLst/>
          </a:prstGeom>
          <a:noFill/>
          <a:ln w="25400">
            <a:solidFill>
              <a:srgbClr val="2E4C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Block Arc 226"/>
          <p:cNvSpPr/>
          <p:nvPr/>
        </p:nvSpPr>
        <p:spPr>
          <a:xfrm>
            <a:off x="9905695" y="4572000"/>
            <a:ext cx="4572000" cy="4572000"/>
          </a:xfrm>
          <a:prstGeom prst="blockArc">
            <a:avLst/>
          </a:prstGeom>
          <a:noFill/>
          <a:ln w="25400">
            <a:solidFill>
              <a:srgbClr val="2E4C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9" name="Picture 228" descr="robo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868680"/>
            <a:ext cx="1051560" cy="1051560"/>
          </a:xfrm>
          <a:prstGeom prst="rect">
            <a:avLst/>
          </a:prstGeom>
        </p:spPr>
      </p:pic>
      <p:sp>
        <p:nvSpPr>
          <p:cNvPr id="230" name="TextBox 229"/>
          <p:cNvSpPr txBox="1"/>
          <p:nvPr/>
        </p:nvSpPr>
        <p:spPr>
          <a:xfrm>
            <a:off x="749808" y="2377440"/>
            <a:ext cx="7680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Будущее труда в автоматизированной экономике</a:t>
            </a:r>
          </a:p>
        </p:txBody>
      </p:sp>
      <p:cxnSp>
        <p:nvCxnSpPr>
          <p:cNvPr id="231" name="Connector 230"/>
          <p:cNvCxnSpPr/>
          <p:nvPr/>
        </p:nvCxnSpPr>
        <p:spPr>
          <a:xfrm>
            <a:off x="749808" y="4343400"/>
            <a:ext cx="2286000" cy="0"/>
          </a:xfrm>
          <a:prstGeom prst="line">
            <a:avLst/>
          </a:prstGeom>
          <a:ln w="50800">
            <a:solidFill>
              <a:srgbClr val="DD6B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TextBox 231"/>
          <p:cNvSpPr txBox="1"/>
          <p:nvPr/>
        </p:nvSpPr>
        <p:spPr>
          <a:xfrm>
            <a:off x="749808" y="45720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C9D6E8"/>
                </a:solidFill>
                <a:latin typeface="Arial"/>
              </a:rPr>
              <a:t>Какие профессии сильнее всего и слабее всего подвержены влиянию ИИ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749808" y="58064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Кобзев Тимой   </a:t>
            </a:r>
            <a:r>
              <a:rPr sz="1800" b="0" i="0">
                <a:solidFill>
                  <a:srgbClr val="8FA6C4"/>
                </a:solidFill>
                <a:latin typeface="Arial"/>
              </a:rPr>
              <a:t>Академическая группа ИС-24   ·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lock Arc 2"/>
          <p:cNvSpPr/>
          <p:nvPr/>
        </p:nvSpPr>
        <p:spPr>
          <a:xfrm>
            <a:off x="-4754880" y="-4754880"/>
            <a:ext cx="9509760" cy="9509760"/>
          </a:xfrm>
          <a:prstGeom prst="blockArc">
            <a:avLst/>
          </a:prstGeom>
          <a:noFill/>
          <a:ln w="25400">
            <a:solidFill>
              <a:srgbClr val="2A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-3749039" y="-3749039"/>
            <a:ext cx="7498079" cy="7498079"/>
          </a:xfrm>
          <a:prstGeom prst="blockArc">
            <a:avLst/>
          </a:prstGeom>
          <a:noFill/>
          <a:ln w="25400">
            <a:solidFill>
              <a:srgbClr val="2A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lock Arc 4"/>
          <p:cNvSpPr/>
          <p:nvPr/>
        </p:nvSpPr>
        <p:spPr>
          <a:xfrm>
            <a:off x="-2743200" y="-2743200"/>
            <a:ext cx="5486400" cy="5486400"/>
          </a:xfrm>
          <a:prstGeom prst="blockArc">
            <a:avLst/>
          </a:prstGeom>
          <a:noFill/>
          <a:ln w="25400">
            <a:solidFill>
              <a:srgbClr val="2A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-1737360" y="-1737360"/>
            <a:ext cx="3474720" cy="3474720"/>
          </a:xfrm>
          <a:prstGeom prst="blockArc">
            <a:avLst/>
          </a:prstGeom>
          <a:noFill/>
          <a:ln w="25400">
            <a:solidFill>
              <a:srgbClr val="2A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46634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0" y="54315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0" y="5815583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0" y="6199631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0" y="6583679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4048" y="46634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4048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4048" y="54315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4048" y="5815583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4048" y="6199631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4048" y="6583679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8096" y="46634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8096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8096" y="54315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8096" y="5815583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8096" y="6199631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6" y="6583679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52144" y="46634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2144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52144" y="54315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2144" y="5815583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52144" y="6199631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52144" y="6583679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536192" y="46634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536192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536192" y="54315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536192" y="5815583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536192" y="6199631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536192" y="6583679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20240" y="46634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920240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920240" y="54315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920240" y="5815583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920240" y="6199631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920240" y="6583679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304288" y="46634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304288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304288" y="54315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304288" y="5815583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04288" y="6199631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04288" y="6583679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688336" y="46634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688336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688336" y="54315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688336" y="5815583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688336" y="6199631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688336" y="6583679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2384" y="46634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072384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072384" y="54315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72384" y="5815583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072384" y="6199631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072384" y="6583679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456432" y="46634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456432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456432" y="54315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456432" y="5815583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456432" y="6199631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456432" y="6583679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840480" y="46634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840480" y="504748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840480" y="543153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840480" y="5815583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840480" y="6199631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840480" y="6583679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Вашу работу заменит робот?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63040" y="3794760"/>
            <a:ext cx="9235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C9D6E8"/>
                </a:solidFill>
                <a:latin typeface="Arial"/>
              </a:rPr>
              <a:t>Разберёмся, что ИИ действительно забирает — а что нет.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941167" y="4892040"/>
            <a:ext cx="2834640" cy="868680"/>
          </a:xfrm>
          <a:prstGeom prst="roundRect">
            <a:avLst>
              <a:gd name="adj" fmla="val 28000"/>
            </a:avLst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941167" y="489204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ДА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415887" y="4892040"/>
            <a:ext cx="2834640" cy="868680"/>
          </a:xfrm>
          <a:prstGeom prst="roundRect">
            <a:avLst>
              <a:gd name="adj" fmla="val 28000"/>
            </a:avLst>
          </a:prstGeom>
          <a:solidFill>
            <a:srgbClr val="335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15887" y="489204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НЕТ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6" name="TextBox 105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2 / 14</a:t>
            </a:r>
          </a:p>
        </p:txBody>
      </p:sp>
    </p:spTree>
  </p:cSld>
  <p:clrMapOvr>
    <a:masterClrMapping/>
  </p:clrMapOvr>
  <p:timing>
    <p:tnLst>
      <p:seq concurrent="1" nextAc="seek">
        <p:cTn id="1" dur="indefinite" nodeType="mainSeq">
          <p:childTnLst>
            <p:par>
              <p:cTn id="101" fill="hold" nodeType="clickEffect">
                <p:stCondLst>
                  <p:cond delay="0"/>
                </p:stCondLst>
                <p:childTnLst>
                  <p:animEffect transition="in" filter="zoom(in)">
                    <p:cBhvr>
                      <p:cTn id="102" dur="500"/>
                      <p:tgtEl>
                        <p:spTgt spid="75"/>
                      </p:tgtEl>
                    </p:cBhvr>
                  </p:animEffect>
                </p:childTnLst>
              </p:cTn>
            </p:par>
            <p:par>
              <p:cTn id="103" fill="hold" nodeType="afterEffect">
                <p:stCondLst>
                  <p:cond delay="0"/>
                </p:stCondLst>
                <p:childTnLst>
                  <p:animEffect transition="in" filter="zoom(in)">
                    <p:cBhvr>
                      <p:cTn id="104" dur="500"/>
                      <p:tgtEl>
                        <p:spTgt spid="103"/>
                      </p:tgtEl>
                    </p:cBhvr>
                  </p:animEffect>
                </p:childTnLst>
              </p:cTn>
            </p:par>
          </p:childTnLst>
        </p:cTn>
        <p:prevCondLst/>
        <p:nextCondLst/>
      </p:seq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128016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166420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14255" y="204825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14255" y="243230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14255" y="281635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14255" y="320039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14255" y="358444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14255" y="396849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14255" y="4352544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14255" y="4736592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14255" y="512064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14255" y="5504688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14255" y="588873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14255" y="627278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98303" y="128016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98303" y="166420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98303" y="204825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98303" y="243230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98303" y="281635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98303" y="320039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98303" y="358444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98303" y="396849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98303" y="4352544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98303" y="4736592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98303" y="512064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98303" y="5504688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98303" y="588873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98303" y="627278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82351" y="128016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82351" y="166420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582351" y="204825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82351" y="243230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582351" y="281635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582351" y="320039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582351" y="358444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82351" y="396849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582351" y="4352544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582351" y="4736592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82351" y="512064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582351" y="5504688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582351" y="588873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582351" y="627278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66399" y="128016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966399" y="166420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66399" y="204825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966399" y="243230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966399" y="281635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966399" y="320039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66399" y="358444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66399" y="396849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966399" y="4352544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966399" y="4736592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66399" y="512064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966399" y="5504688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966399" y="588873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966399" y="627278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350447" y="128016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350447" y="166420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350447" y="204825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350447" y="243230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350447" y="281635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350447" y="320039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350447" y="358444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350447" y="396849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350447" y="4352544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350447" y="4736592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350447" y="512064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1350447" y="5504688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1350447" y="588873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1350447" y="627278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734495" y="128016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734495" y="166420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734495" y="204825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734495" y="243230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1734495" y="281635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734495" y="320039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734495" y="358444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1734495" y="396849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734495" y="4352544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734495" y="4736592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734495" y="512064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734495" y="5504688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734495" y="588873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734495" y="627278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58368" y="502920"/>
            <a:ext cx="1087495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365D"/>
                </a:solidFill>
                <a:latin typeface="Arial"/>
              </a:rPr>
              <a:t>Содержание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58368" y="1298448"/>
            <a:ext cx="1920240" cy="0"/>
          </a:xfrm>
          <a:prstGeom prst="line">
            <a:avLst/>
          </a:prstGeom>
          <a:ln w="38100">
            <a:solidFill>
              <a:srgbClr val="1A36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658368" y="17830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58368" y="17830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499616" y="1783080"/>
            <a:ext cx="7680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Масштаб проблемы</a:t>
            </a:r>
            <a:r>
              <a:rPr sz="1800" b="0" i="0">
                <a:solidFill>
                  <a:srgbClr val="6C757D"/>
                </a:solidFill>
                <a:latin typeface="Arial"/>
              </a:rPr>
              <a:t>  —  что реально происходит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499616" y="2432304"/>
            <a:ext cx="6839712" cy="0"/>
          </a:xfrm>
          <a:prstGeom prst="line">
            <a:avLst/>
          </a:prstGeom>
          <a:ln w="9525">
            <a:solidFill>
              <a:srgbClr val="E9EC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unded Rectangle 106"/>
          <p:cNvSpPr/>
          <p:nvPr/>
        </p:nvSpPr>
        <p:spPr>
          <a:xfrm>
            <a:off x="658368" y="253288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58368" y="25328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499616" y="2532888"/>
            <a:ext cx="7680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Методология оценки</a:t>
            </a:r>
            <a:r>
              <a:rPr sz="1800" b="0" i="0">
                <a:solidFill>
                  <a:srgbClr val="6C757D"/>
                </a:solidFill>
                <a:latin typeface="Arial"/>
              </a:rPr>
              <a:t>  —  как измеряют риск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1499616" y="3182112"/>
            <a:ext cx="6839712" cy="0"/>
          </a:xfrm>
          <a:prstGeom prst="line">
            <a:avLst/>
          </a:prstGeom>
          <a:ln w="9525">
            <a:solidFill>
              <a:srgbClr val="E9EC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/>
          <p:cNvSpPr/>
          <p:nvPr/>
        </p:nvSpPr>
        <p:spPr>
          <a:xfrm>
            <a:off x="658368" y="3282696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58368" y="328269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499616" y="3282696"/>
            <a:ext cx="7680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Профессии под ударом</a:t>
            </a:r>
            <a:r>
              <a:rPr sz="1800" b="0" i="0">
                <a:solidFill>
                  <a:srgbClr val="6C757D"/>
                </a:solidFill>
                <a:latin typeface="Arial"/>
              </a:rPr>
              <a:t>  —  высокий риск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1499616" y="3931920"/>
            <a:ext cx="6839712" cy="0"/>
          </a:xfrm>
          <a:prstGeom prst="line">
            <a:avLst/>
          </a:prstGeom>
          <a:ln w="9525">
            <a:solidFill>
              <a:srgbClr val="E9EC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658368" y="403250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58368" y="40325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499616" y="4032504"/>
            <a:ext cx="7680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Профессии вне зоны риска</a:t>
            </a:r>
            <a:r>
              <a:rPr sz="1800" b="0" i="0">
                <a:solidFill>
                  <a:srgbClr val="6C757D"/>
                </a:solidFill>
                <a:latin typeface="Arial"/>
              </a:rPr>
              <a:t>  —  устойчивые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1499616" y="4681728"/>
            <a:ext cx="6839712" cy="0"/>
          </a:xfrm>
          <a:prstGeom prst="line">
            <a:avLst/>
          </a:prstGeom>
          <a:ln w="9525">
            <a:solidFill>
              <a:srgbClr val="E9EC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658368" y="478231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58368" y="47823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499616" y="4782312"/>
            <a:ext cx="7680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Прогнозы и тренды</a:t>
            </a:r>
            <a:r>
              <a:rPr sz="1800" b="0" i="0">
                <a:solidFill>
                  <a:srgbClr val="6C757D"/>
                </a:solidFill>
                <a:latin typeface="Arial"/>
              </a:rPr>
              <a:t>  —  что дальше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1499616" y="5431536"/>
            <a:ext cx="6839712" cy="0"/>
          </a:xfrm>
          <a:prstGeom prst="line">
            <a:avLst/>
          </a:prstGeom>
          <a:ln w="9525">
            <a:solidFill>
              <a:srgbClr val="E9EC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/>
          <p:cNvSpPr/>
          <p:nvPr/>
        </p:nvSpPr>
        <p:spPr>
          <a:xfrm>
            <a:off x="658368" y="55321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8368" y="55321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499616" y="5532120"/>
            <a:ext cx="7680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Выводы</a:t>
            </a:r>
            <a:r>
              <a:rPr sz="1800" b="0" i="0">
                <a:solidFill>
                  <a:srgbClr val="6C757D"/>
                </a:solidFill>
                <a:latin typeface="Arial"/>
              </a:rPr>
              <a:t>  —  главное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7" name="TextBox 126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3 / 14</a:t>
            </a:r>
          </a:p>
        </p:txBody>
      </p:sp>
    </p:spTree>
  </p:cSld>
  <p:clrMapOvr>
    <a:masterClrMapping/>
  </p:clrMapOvr>
  <p:timing>
    <p:tnLst>
      <p:seq concurrent="1" nextAc="seek">
        <p:cTn id="1" dur="indefinite" nodeType="mainSeq">
          <p:childTnLst>
            <p:par>
              <p:cTn id="105" fill="hold" nodeType="clickEffect">
                <p:stCondLst>
                  <p:cond delay="0"/>
                </p:stCondLst>
                <p:childTnLst>
                  <p:animEffect transition="in" filter="wipe(right)">
                    <p:cBhvr>
                      <p:cTn id="106" dur="500"/>
                      <p:tgtEl>
                        <p:spTgt spid="89"/>
                      </p:tgtEl>
                    </p:cBhvr>
                  </p:animEffect>
                </p:childTnLst>
              </p:cTn>
            </p:par>
            <p:par>
              <p:cTn id="107" fill="hold" nodeType="afterEffect">
                <p:stCondLst>
                  <p:cond delay="0"/>
                </p:stCondLst>
                <p:childTnLst>
                  <p:animEffect transition="in" filter="wipe(right)">
                    <p:cBhvr>
                      <p:cTn id="108" dur="500"/>
                      <p:tgtEl>
                        <p:spTgt spid="107"/>
                      </p:tgtEl>
                    </p:cBhvr>
                  </p:animEffect>
                </p:childTnLst>
              </p:cTn>
            </p:par>
            <p:par>
              <p:cTn id="109" fill="hold" nodeType="afterEffect">
                <p:stCondLst>
                  <p:cond delay="0"/>
                </p:stCondLst>
                <p:childTnLst>
                  <p:animEffect transition="in" filter="wipe(right)">
                    <p:cBhvr>
                      <p:cTn id="110" dur="500"/>
                      <p:tgtEl>
                        <p:spTgt spid="111"/>
                      </p:tgtEl>
                    </p:cBhvr>
                  </p:animEffect>
                </p:childTnLst>
              </p:cTn>
            </p:par>
            <p:par>
              <p:cTn id="111" fill="hold" nodeType="afterEffect">
                <p:stCondLst>
                  <p:cond delay="0"/>
                </p:stCondLst>
                <p:childTnLst>
                  <p:animEffect transition="in" filter="wipe(right)">
                    <p:cBhvr>
                      <p:cTn id="112" dur="500"/>
                      <p:tgtEl>
                        <p:spTgt spid="115"/>
                      </p:tgtEl>
                    </p:cBhvr>
                  </p:animEffect>
                </p:childTnLst>
              </p:cTn>
            </p:par>
            <p:par>
              <p:cTn id="113" fill="hold" nodeType="afterEffect">
                <p:stCondLst>
                  <p:cond delay="0"/>
                </p:stCondLst>
                <p:childTnLst>
                  <p:animEffect transition="in" filter="wipe(right)">
                    <p:cBhvr>
                      <p:cTn id="114" dur="500"/>
                      <p:tgtEl>
                        <p:spTgt spid="119"/>
                      </p:tgtEl>
                    </p:cBhvr>
                  </p:animEffect>
                </p:childTnLst>
              </p:cTn>
            </p:par>
            <p:par>
              <p:cTn id="115" fill="hold" nodeType="afterEffect">
                <p:stCondLst>
                  <p:cond delay="0"/>
                </p:stCondLst>
                <p:childTnLst>
                  <p:animEffect transition="in" filter="wipe(right)">
                    <p:cBhvr>
                      <p:cTn id="116" dur="500"/>
                      <p:tgtEl>
                        <p:spTgt spid="123"/>
                      </p:tgtEl>
                    </p:cBhvr>
                  </p:animEffect>
                </p:childTnLst>
              </p:cTn>
            </p:par>
          </p:childTnLst>
        </p:cTn>
        <p:prevCondLst/>
        <p:nextCondLst/>
      </p:seq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365D"/>
                </a:solidFill>
                <a:latin typeface="Arial"/>
              </a:rPr>
              <a:t>Масштаб проблемы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920240" cy="0"/>
          </a:xfrm>
          <a:prstGeom prst="line">
            <a:avLst/>
          </a:prstGeom>
          <a:ln w="38100">
            <a:solidFill>
              <a:srgbClr val="1A36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58368" y="1783080"/>
            <a:ext cx="5486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109728" cy="1691640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7" y="1874519"/>
            <a:ext cx="201168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1A365D"/>
                </a:solidFill>
                <a:latin typeface="Arial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1965960"/>
            <a:ext cx="28346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рабочих мест в мире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2529"/>
                </a:solidFill>
                <a:latin typeface="Arial"/>
              </a:rPr>
              <a:t>затронет искусственный интеллект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МВФ, 2024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58368" y="3703320"/>
            <a:ext cx="5486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58368" y="3703320"/>
            <a:ext cx="109728" cy="1691640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78407" y="3794759"/>
            <a:ext cx="201168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1A365D"/>
                </a:solidFill>
                <a:latin typeface="Arial"/>
              </a:rPr>
              <a:t>⅓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035808" y="3886200"/>
            <a:ext cx="28346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рабочих мест в России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2529"/>
                </a:solidFill>
                <a:latin typeface="Arial"/>
              </a:rPr>
              <a:t>потенциально затронет автоматизация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ВШЭ, «Вопросы экономики», 2025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784848" y="1737360"/>
            <a:ext cx="47484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100 рабочих мест в России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876288" y="2240280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7136892" y="2240280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7397496" y="2240280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7658100" y="2240280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7918704" y="2240280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8179308" y="2240280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8439912" y="2240280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8700516" y="2240280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8961120" y="2240280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9221724" y="2240280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6876288" y="2500884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7136892" y="2500884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7397496" y="2500884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7658100" y="2500884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7918704" y="2500884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8179308" y="2500884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8439912" y="2500884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8700516" y="2500884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8961120" y="2500884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9221724" y="2500884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6876288" y="2761488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7136892" y="2761488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7397496" y="2761488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7658100" y="2761488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7918704" y="2761488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8179308" y="2761488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8439912" y="2761488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8700516" y="2761488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8961120" y="2761488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9221724" y="2761488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6876288" y="3022092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7136892" y="3022092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7397496" y="3022092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7658100" y="3022092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7918704" y="3022092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8179308" y="3022092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8439912" y="3022092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8700516" y="3022092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8961120" y="3022092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9221724" y="3022092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6876288" y="3282696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7136892" y="3282696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7397496" y="3282696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7658100" y="3282696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7918704" y="3282696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8179308" y="3282696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8439912" y="3282696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8700516" y="3282696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8961120" y="3282696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9221724" y="3282696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6876288" y="3543300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7136892" y="3543300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7397496" y="3543300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7658100" y="3543300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7918704" y="3543300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8179308" y="3543300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8439912" y="3543300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8700516" y="3543300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8961120" y="3543300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9221724" y="3543300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6876288" y="3803904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7136892" y="3803904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7397496" y="3803904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7658100" y="3803904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7918704" y="3803904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8179308" y="3803904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8439912" y="3803904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8700516" y="3803904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ounded Rectangle 191"/>
          <p:cNvSpPr/>
          <p:nvPr/>
        </p:nvSpPr>
        <p:spPr>
          <a:xfrm>
            <a:off x="8961120" y="3803904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ounded Rectangle 192"/>
          <p:cNvSpPr/>
          <p:nvPr/>
        </p:nvSpPr>
        <p:spPr>
          <a:xfrm>
            <a:off x="9221724" y="3803904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6876288" y="4064508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ounded Rectangle 194"/>
          <p:cNvSpPr/>
          <p:nvPr/>
        </p:nvSpPr>
        <p:spPr>
          <a:xfrm>
            <a:off x="7136892" y="4064508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ounded Rectangle 195"/>
          <p:cNvSpPr/>
          <p:nvPr/>
        </p:nvSpPr>
        <p:spPr>
          <a:xfrm>
            <a:off x="7397496" y="4064508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7658100" y="4064508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7918704" y="4064508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8179308" y="4064508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ounded Rectangle 199"/>
          <p:cNvSpPr/>
          <p:nvPr/>
        </p:nvSpPr>
        <p:spPr>
          <a:xfrm>
            <a:off x="8439912" y="4064508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8700516" y="4064508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8961120" y="4064508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ounded Rectangle 202"/>
          <p:cNvSpPr/>
          <p:nvPr/>
        </p:nvSpPr>
        <p:spPr>
          <a:xfrm>
            <a:off x="9221724" y="4064508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6876288" y="4325112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7136892" y="4325112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7397496" y="4325112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7658100" y="4325112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ounded Rectangle 207"/>
          <p:cNvSpPr/>
          <p:nvPr/>
        </p:nvSpPr>
        <p:spPr>
          <a:xfrm>
            <a:off x="7918704" y="4325112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8179308" y="4325112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8439912" y="4325112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8700516" y="4325112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8961120" y="4325112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9221724" y="4325112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ounded Rectangle 213"/>
          <p:cNvSpPr/>
          <p:nvPr/>
        </p:nvSpPr>
        <p:spPr>
          <a:xfrm>
            <a:off x="6876288" y="4585716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7136892" y="4585716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7397496" y="4585716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7658100" y="4585716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ounded Rectangle 217"/>
          <p:cNvSpPr/>
          <p:nvPr/>
        </p:nvSpPr>
        <p:spPr>
          <a:xfrm>
            <a:off x="7918704" y="4585716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ounded Rectangle 218"/>
          <p:cNvSpPr/>
          <p:nvPr/>
        </p:nvSpPr>
        <p:spPr>
          <a:xfrm>
            <a:off x="8179308" y="4585716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ounded Rectangle 219"/>
          <p:cNvSpPr/>
          <p:nvPr/>
        </p:nvSpPr>
        <p:spPr>
          <a:xfrm>
            <a:off x="8439912" y="4585716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ounded Rectangle 220"/>
          <p:cNvSpPr/>
          <p:nvPr/>
        </p:nvSpPr>
        <p:spPr>
          <a:xfrm>
            <a:off x="8700516" y="4585716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ounded Rectangle 221"/>
          <p:cNvSpPr/>
          <p:nvPr/>
        </p:nvSpPr>
        <p:spPr>
          <a:xfrm>
            <a:off x="8961120" y="4585716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ounded Rectangle 222"/>
          <p:cNvSpPr/>
          <p:nvPr/>
        </p:nvSpPr>
        <p:spPr>
          <a:xfrm>
            <a:off x="9221724" y="4585716"/>
            <a:ext cx="205740" cy="205740"/>
          </a:xfrm>
          <a:prstGeom prst="roundRect">
            <a:avLst>
              <a:gd name="adj" fmla="val 22000"/>
            </a:avLst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784848" y="4892040"/>
            <a:ext cx="47484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DD6B20"/>
                </a:solidFill>
                <a:latin typeface="Arial"/>
              </a:rPr>
              <a:t>1</a:t>
            </a:r>
            <a:r>
              <a:rPr sz="1800" b="0" i="0">
                <a:solidFill>
                  <a:srgbClr val="1A365D"/>
                </a:solidFill>
                <a:latin typeface="Arial"/>
              </a:rPr>
              <a:t>  из 100 — под угрозой полной автоматизации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ВШЭ, 2025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6" name="TextBox 225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4 / 14</a:t>
            </a:r>
          </a:p>
        </p:txBody>
      </p:sp>
    </p:spTree>
  </p:cSld>
  <p:clrMapOvr>
    <a:masterClrMapping/>
  </p:clrMapOvr>
  <p:timing>
    <p:tnLst>
      <p:seq concurrent="1" nextAc="seek">
        <p:cTn id="1" dur="indefinite" nodeType="mainSeq">
          <p:childTnLst>
            <p:par>
              <p:cTn id="117" fill="hold" nodeType="clickEffect">
                <p:stCondLst>
                  <p:cond delay="0"/>
                </p:stCondLst>
                <p:childTnLst>
                  <p:animEffect transition="in" filter="wipe(left)">
                    <p:cBhvr>
                      <p:cTn id="118" dur="500"/>
                      <p:tgtEl>
                        <p:spTgt spid="5"/>
                      </p:tgtEl>
                    </p:cBhvr>
                  </p:animEffect>
                </p:childTnLst>
              </p:cTn>
            </p:par>
            <p:par>
              <p:cTn id="119" fill="hold" nodeType="afterEffect">
                <p:stCondLst>
                  <p:cond delay="0"/>
                </p:stCondLst>
                <p:childTnLst>
                  <p:animEffect transition="in" filter="wipe(left)">
                    <p:cBhvr>
                      <p:cTn id="120" dur="500"/>
                      <p:tgtEl>
                        <p:spTgt spid="119"/>
                      </p:tgtEl>
                    </p:cBhvr>
                  </p:animEffect>
                </p:childTnLst>
              </p:cTn>
            </p:par>
          </p:childTnLst>
        </p:cTn>
        <p:prevCondLst/>
        <p:nextCondLst/>
      </p:seq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365D"/>
                </a:solidFill>
                <a:latin typeface="Arial"/>
              </a:rPr>
              <a:t>Критерии уязвимости профессий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920240" cy="0"/>
          </a:xfrm>
          <a:prstGeom prst="line">
            <a:avLst/>
          </a:prstGeom>
          <a:ln w="38100">
            <a:solidFill>
              <a:srgbClr val="1A36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55448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Пять факторов, по которым оценивают, насколько профессия подвержена автоматизации.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331720"/>
            <a:ext cx="197016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331720"/>
            <a:ext cx="1970166" cy="82296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ear_1A36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391" y="2651760"/>
            <a:ext cx="960120" cy="960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3794760"/>
            <a:ext cx="17507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365D"/>
                </a:solidFill>
                <a:latin typeface="Arial"/>
              </a:rPr>
              <a:t>Рутинность задач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617720"/>
            <a:ext cx="17507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чем повторяемее — тем выше риск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884566" y="2331720"/>
            <a:ext cx="197016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884566" y="2331720"/>
            <a:ext cx="1970166" cy="82296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5" name="Picture 124" descr="robot_1A36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589" y="2651760"/>
            <a:ext cx="960120" cy="960120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2994294" y="3794760"/>
            <a:ext cx="17507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365D"/>
                </a:solidFill>
                <a:latin typeface="Arial"/>
              </a:rPr>
              <a:t>Физический труд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994294" y="4617720"/>
            <a:ext cx="17507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предсказуемые операции автоматизируют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110764" y="2331720"/>
            <a:ext cx="197016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110764" y="2331720"/>
            <a:ext cx="1970166" cy="82296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0" name="Picture 129" descr="palette_1A36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5787" y="2651760"/>
            <a:ext cx="960120" cy="960120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5220492" y="3794760"/>
            <a:ext cx="17507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365D"/>
                </a:solidFill>
                <a:latin typeface="Arial"/>
              </a:rPr>
              <a:t>Творчество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220492" y="4617720"/>
            <a:ext cx="17507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нестандартные решения защищают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336962" y="2331720"/>
            <a:ext cx="197016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336962" y="2331720"/>
            <a:ext cx="1970166" cy="82296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people_1A36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1985" y="2651760"/>
            <a:ext cx="960120" cy="960120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7446690" y="3794760"/>
            <a:ext cx="17507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365D"/>
                </a:solidFill>
                <a:latin typeface="Arial"/>
              </a:rPr>
              <a:t>Социальное взаимодействие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446690" y="4617720"/>
            <a:ext cx="17507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работа с людьми устойчива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563160" y="2331720"/>
            <a:ext cx="197016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563160" y="2331720"/>
            <a:ext cx="1970166" cy="82296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0" name="Picture 139" descr="heart_1A365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8184" y="2651760"/>
            <a:ext cx="960120" cy="960120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9672888" y="3794760"/>
            <a:ext cx="17507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365D"/>
                </a:solidFill>
                <a:latin typeface="Arial"/>
              </a:rPr>
              <a:t>Эмпатия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672888" y="4617720"/>
            <a:ext cx="17507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сопереживание машине недоступно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4" name="TextBox 14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5 / 14</a:t>
            </a:r>
          </a:p>
        </p:txBody>
      </p:sp>
    </p:spTree>
  </p:cSld>
  <p:clrMapOvr>
    <a:masterClrMapping/>
  </p:clrMapOvr>
  <p:timing>
    <p:tnLst>
      <p:seq concurrent="1" nextAc="seek">
        <p:cTn id="1" dur="indefinite" nodeType="mainSeq">
          <p:childTnLst>
            <p:par>
              <p:cTn id="121" fill="hold" nodeType="clickEffect">
                <p:stCondLst>
                  <p:cond delay="0"/>
                </p:stCondLst>
                <p:childTnLst>
                  <p:animEffect transition="in" filter="fade">
                    <p:cBhvr>
                      <p:cTn id="122" dur="500"/>
                      <p:tgtEl>
                        <p:spTgt spid="6"/>
                      </p:tgtEl>
                    </p:cBhvr>
                  </p:animEffect>
                </p:childTnLst>
              </p:cTn>
            </p:par>
            <p:par>
              <p:cTn id="123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124" dur="500"/>
                      <p:tgtEl>
                        <p:spTgt spid="123"/>
                      </p:tgtEl>
                    </p:cBhvr>
                  </p:animEffect>
                </p:childTnLst>
              </p:cTn>
            </p:par>
            <p:par>
              <p:cTn id="125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126" dur="500"/>
                      <p:tgtEl>
                        <p:spTgt spid="128"/>
                      </p:tgtEl>
                    </p:cBhvr>
                  </p:animEffect>
                </p:childTnLst>
              </p:cTn>
            </p:par>
            <p:par>
              <p:cTn id="127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128" dur="500"/>
                      <p:tgtEl>
                        <p:spTgt spid="133"/>
                      </p:tgtEl>
                    </p:cBhvr>
                  </p:animEffect>
                </p:childTnLst>
              </p:cTn>
            </p:par>
            <p:par>
              <p:cTn id="129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130" dur="500"/>
                      <p:tgtEl>
                        <p:spTgt spid="138"/>
                      </p:tgtEl>
                    </p:cBhvr>
                  </p:animEffect>
                </p:childTnLst>
              </p:cTn>
            </p:par>
          </p:childTnLst>
        </p:cTn>
        <p:prevCondLst/>
        <p:nextCondLst/>
      </p:seq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9265615" y="-914400"/>
            <a:ext cx="5486400" cy="2011680"/>
          </a:xfrm>
          <a:prstGeom prst="parallelogram">
            <a:avLst/>
          </a:prstGeom>
          <a:solidFill>
            <a:srgbClr val="FB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1087495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D6B20"/>
                </a:solidFill>
                <a:latin typeface="Arial"/>
              </a:rPr>
              <a:t>Под ударом: высокий риск автоматизации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920240" cy="0"/>
          </a:xfrm>
          <a:prstGeom prst="line">
            <a:avLst/>
          </a:prstGeom>
          <a:ln w="38100">
            <a:solidFill>
              <a:srgbClr val="DD6B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" y="1691640"/>
            <a:ext cx="10874959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128016" cy="804672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eadset_DD6B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819656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55648" y="1691640"/>
            <a:ext cx="5120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Операторы call-центров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1691640"/>
            <a:ext cx="4291279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скриптовые диалоги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8368" y="2624328"/>
            <a:ext cx="10874959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58368" y="2624328"/>
            <a:ext cx="128016" cy="804672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cart_DD6B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752344"/>
            <a:ext cx="548640" cy="548640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1755648" y="2624328"/>
            <a:ext cx="5120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Кассиры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059168" y="2624328"/>
            <a:ext cx="4291279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стандартные транзакции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58368" y="3557016"/>
            <a:ext cx="10874959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58368" y="3557016"/>
            <a:ext cx="128016" cy="804672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0" name="Picture 139" descr="car_DD6B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685032"/>
            <a:ext cx="548640" cy="548640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1755648" y="3557016"/>
            <a:ext cx="5120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Водители такси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059168" y="3557016"/>
            <a:ext cx="4291279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беспилотные технологии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58368" y="4489704"/>
            <a:ext cx="10874959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58368" y="4489704"/>
            <a:ext cx="128016" cy="804672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5" name="Picture 144" descr="calc_DD6B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617720"/>
            <a:ext cx="548640" cy="548640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1755648" y="4489704"/>
            <a:ext cx="5120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Бухгалтеры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059168" y="4489704"/>
            <a:ext cx="4291279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рутинный учёт и отчётность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58368" y="5422392"/>
            <a:ext cx="10874959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58368" y="5422392"/>
            <a:ext cx="128016" cy="804672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0" name="Picture 149" descr="book_DD6B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5550407"/>
            <a:ext cx="548640" cy="548640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1755648" y="5422392"/>
            <a:ext cx="5120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Почтальоны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059168" y="5422392"/>
            <a:ext cx="4291279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цифровые коммуникации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Источник: Атлас новых профессий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6 / 14</a:t>
            </a:r>
          </a:p>
        </p:txBody>
      </p:sp>
    </p:spTree>
  </p:cSld>
  <p:clrMapOvr>
    <a:masterClrMapping/>
  </p:clrMapOvr>
  <p:timing>
    <p:tnLst>
      <p:seq concurrent="1" nextAc="seek">
        <p:cTn id="1" dur="indefinite" nodeType="mainSeq">
          <p:childTnLst>
            <p:par>
              <p:cTn id="131" fill="hold" nodeType="clickEffect">
                <p:stCondLst>
                  <p:cond delay="0"/>
                </p:stCondLst>
                <p:childTnLst>
                  <p:animEffect transition="in" filter="wipe(left)">
                    <p:cBhvr>
                      <p:cTn id="132" dur="500"/>
                      <p:tgtEl>
                        <p:spTgt spid="6"/>
                      </p:tgtEl>
                    </p:cBhvr>
                  </p:animEffect>
                </p:childTnLst>
              </p:cTn>
            </p:par>
            <p:par>
              <p:cTn id="133" fill="hold" nodeType="afterEffect">
                <p:stCondLst>
                  <p:cond delay="0"/>
                </p:stCondLst>
                <p:childTnLst>
                  <p:animEffect transition="in" filter="wipe(left)">
                    <p:cBhvr>
                      <p:cTn id="134" dur="500"/>
                      <p:tgtEl>
                        <p:spTgt spid="133"/>
                      </p:tgtEl>
                    </p:cBhvr>
                  </p:animEffect>
                </p:childTnLst>
              </p:cTn>
            </p:par>
            <p:par>
              <p:cTn id="135" fill="hold" nodeType="afterEffect">
                <p:stCondLst>
                  <p:cond delay="0"/>
                </p:stCondLst>
                <p:childTnLst>
                  <p:animEffect transition="in" filter="wipe(left)">
                    <p:cBhvr>
                      <p:cTn id="136" dur="500"/>
                      <p:tgtEl>
                        <p:spTgt spid="138"/>
                      </p:tgtEl>
                    </p:cBhvr>
                  </p:animEffect>
                </p:childTnLst>
              </p:cTn>
            </p:par>
            <p:par>
              <p:cTn id="137" fill="hold" nodeType="afterEffect">
                <p:stCondLst>
                  <p:cond delay="0"/>
                </p:stCondLst>
                <p:childTnLst>
                  <p:animEffect transition="in" filter="wipe(left)">
                    <p:cBhvr>
                      <p:cTn id="138" dur="500"/>
                      <p:tgtEl>
                        <p:spTgt spid="143"/>
                      </p:tgtEl>
                    </p:cBhvr>
                  </p:animEffect>
                </p:childTnLst>
              </p:cTn>
            </p:par>
            <p:par>
              <p:cTn id="139" fill="hold" nodeType="afterEffect">
                <p:stCondLst>
                  <p:cond delay="0"/>
                </p:stCondLst>
                <p:childTnLst>
                  <p:animEffect transition="in" filter="wipe(left)">
                    <p:cBhvr>
                      <p:cTn id="140" dur="500"/>
                      <p:tgtEl>
                        <p:spTgt spid="148"/>
                      </p:tgtEl>
                    </p:cBhvr>
                  </p:animEffect>
                </p:childTnLst>
              </p:cTn>
            </p:par>
          </p:childTnLst>
        </p:cTn>
        <p:prevCondLst/>
        <p:nextCondLst/>
      </p:seq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576072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612648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" y="576072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612648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89888" y="576072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9888" y="612648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576072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55648" y="612648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21408" y="576072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21408" y="612648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87168" y="576072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87168" y="612648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52927" y="576072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52927" y="612648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218687" y="576072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18687" y="612648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84447" y="576072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84447" y="612648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50207" y="576072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50207" y="612648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15968" y="576072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15968" y="612648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81728" y="576072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81728" y="612648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47488" y="576072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47488" y="612648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413248" y="576072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13248" y="612648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79008" y="576072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779008" y="612648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02920"/>
            <a:ext cx="1087495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365D"/>
                </a:solidFill>
                <a:latin typeface="Arial"/>
              </a:rPr>
              <a:t>Насколько автоматизируемы задачи?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1298448"/>
            <a:ext cx="1920240" cy="0"/>
          </a:xfrm>
          <a:prstGeom prst="line">
            <a:avLst/>
          </a:prstGeom>
          <a:ln w="38100">
            <a:solidFill>
              <a:srgbClr val="1A36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8" y="155448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Вероятность автоматизации профессий, % задач</a:t>
            </a:r>
          </a:p>
        </p:txBody>
      </p:sp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749808" y="2011680"/>
          <a:ext cx="10692079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58368" y="598932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Источник: Frey &amp; Osborne, 2017 (Оксфордский университет)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lock Arc 2"/>
          <p:cNvSpPr/>
          <p:nvPr/>
        </p:nvSpPr>
        <p:spPr>
          <a:xfrm>
            <a:off x="9265615" y="-2926080"/>
            <a:ext cx="5852160" cy="5852160"/>
          </a:xfrm>
          <a:prstGeom prst="blockArc">
            <a:avLst/>
          </a:prstGeom>
          <a:noFill/>
          <a:ln w="254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9997135" y="-2194560"/>
            <a:ext cx="4389120" cy="4389120"/>
          </a:xfrm>
          <a:prstGeom prst="blockArc">
            <a:avLst/>
          </a:prstGeom>
          <a:noFill/>
          <a:ln w="254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1087495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365D"/>
                </a:solidFill>
                <a:latin typeface="Arial"/>
              </a:rPr>
              <a:t>Вне зоны риска: устойчивые профессии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298448"/>
            <a:ext cx="1920240" cy="0"/>
          </a:xfrm>
          <a:prstGeom prst="line">
            <a:avLst/>
          </a:prstGeom>
          <a:ln w="38100">
            <a:solidFill>
              <a:srgbClr val="1A36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1691640"/>
            <a:ext cx="10874959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128016" cy="804672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etho_1A36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819656"/>
            <a:ext cx="548640" cy="548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691640"/>
            <a:ext cx="54864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Врачи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4928" y="1691640"/>
            <a:ext cx="3925519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диагноз, ответственность, эмпатия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58368" y="2624328"/>
            <a:ext cx="10874959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58368" y="2624328"/>
            <a:ext cx="128016" cy="804672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5" name="Picture 144" descr="teacher_1A36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752344"/>
            <a:ext cx="548640" cy="548640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1755648" y="2624328"/>
            <a:ext cx="54864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Учителя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424928" y="2624328"/>
            <a:ext cx="3925519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наставничество и мотивация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58368" y="3557016"/>
            <a:ext cx="10874959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58368" y="3557016"/>
            <a:ext cx="128016" cy="804672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0" name="Picture 149" descr="brain_1A36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685032"/>
            <a:ext cx="548640" cy="548640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1755648" y="3557016"/>
            <a:ext cx="54864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Психологи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424928" y="3557016"/>
            <a:ext cx="3925519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глубокая эмпатия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58368" y="4489704"/>
            <a:ext cx="10874959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58368" y="4489704"/>
            <a:ext cx="128016" cy="804672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hands_1A36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617720"/>
            <a:ext cx="548640" cy="548640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755648" y="4489704"/>
            <a:ext cx="54864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Социальные работники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424928" y="4489704"/>
            <a:ext cx="3925519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живая человеческая помощь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58368" y="5422392"/>
            <a:ext cx="10874959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8368" y="5422392"/>
            <a:ext cx="128016" cy="804672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0" name="Picture 159" descr="palette_1A365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5550407"/>
            <a:ext cx="548640" cy="548640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1755648" y="5422392"/>
            <a:ext cx="54864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Творческие профессии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424928" y="5422392"/>
            <a:ext cx="3925519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художники, писатели, дизайнеры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4" name="TextBox 16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8 / 14</a:t>
            </a:r>
          </a:p>
        </p:txBody>
      </p:sp>
    </p:spTree>
  </p:cSld>
  <p:clrMapOvr>
    <a:masterClrMapping/>
  </p:clrMapOvr>
  <p:timing>
    <p:tnLst>
      <p:seq concurrent="1" nextAc="seek">
        <p:cTn id="1" dur="indefinite" nodeType="mainSeq">
          <p:childTnLst>
            <p:par>
              <p:cTn id="141" fill="hold" nodeType="clickEffect">
                <p:stCondLst>
                  <p:cond delay="0"/>
                </p:stCondLst>
                <p:childTnLst>
                  <p:animEffect transition="in" filter="fade">
                    <p:cBhvr>
                      <p:cTn id="142" dur="500"/>
                      <p:tgtEl>
                        <p:spTgt spid="7"/>
                      </p:tgtEl>
                    </p:cBhvr>
                  </p:animEffect>
                </p:childTnLst>
              </p:cTn>
            </p:par>
            <p:par>
              <p:cTn id="143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144" dur="500"/>
                      <p:tgtEl>
                        <p:spTgt spid="143"/>
                      </p:tgtEl>
                    </p:cBhvr>
                  </p:animEffect>
                </p:childTnLst>
              </p:cTn>
            </p:par>
            <p:par>
              <p:cTn id="145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146" dur="500"/>
                      <p:tgtEl>
                        <p:spTgt spid="148"/>
                      </p:tgtEl>
                    </p:cBhvr>
                  </p:animEffect>
                </p:childTnLst>
              </p:cTn>
            </p:par>
            <p:par>
              <p:cTn id="147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148" dur="500"/>
                      <p:tgtEl>
                        <p:spTgt spid="153"/>
                      </p:tgtEl>
                    </p:cBhvr>
                  </p:animEffect>
                </p:childTnLst>
              </p:cTn>
            </p:par>
            <p:par>
              <p:cTn id="149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150" dur="500"/>
                      <p:tgtEl>
                        <p:spTgt spid="158"/>
                      </p:tgtEl>
                    </p:cBhvr>
                  </p:animEffect>
                </p:childTnLst>
              </p:cTn>
            </p:par>
          </p:childTnLst>
        </p:cTn>
        <p:prevCondLst/>
        <p:nextCondLst/>
      </p:seq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365D"/>
                </a:solidFill>
                <a:latin typeface="Arial"/>
              </a:rPr>
              <a:t>Риски и возможности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920240" cy="0"/>
          </a:xfrm>
          <a:prstGeom prst="line">
            <a:avLst/>
          </a:prstGeom>
          <a:ln w="38100">
            <a:solidFill>
              <a:srgbClr val="1A36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83080"/>
          <a:ext cx="100049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1190"/>
                <a:gridCol w="2401190"/>
                <a:gridCol w="5202580"/>
              </a:tblGrid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Профессия</a:t>
                      </a:r>
                    </a:p>
                  </a:txBody>
                  <a:tcPr marL="109728" marR="10972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Риск автоматизации</a:t>
                      </a:r>
                    </a:p>
                  </a:txBody>
                  <a:tcPr marL="109728" marR="109728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Новые возможности</a:t>
                      </a:r>
                    </a:p>
                  </a:txBody>
                  <a:tcPr marL="109728" marR="109728" anchor="ctr">
                    <a:solidFill>
                      <a:srgbClr val="1A365D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A365D"/>
                          </a:solidFill>
                          <a:latin typeface="Arial"/>
                        </a:rPr>
                        <a:t>Кассир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DD6B20"/>
                          </a:solidFill>
                          <a:latin typeface="Arial"/>
                        </a:rPr>
                        <a:t>Высокий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Arial"/>
                        </a:rPr>
                        <a:t>Оператор сервисных роботов, поддержка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A365D"/>
                          </a:solidFill>
                          <a:latin typeface="Arial"/>
                        </a:rPr>
                        <a:t>Бухгалтер</a:t>
                      </a:r>
                    </a:p>
                  </a:txBody>
                  <a:tcPr marL="109728" marR="10972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DD6B20"/>
                          </a:solidFill>
                          <a:latin typeface="Arial"/>
                        </a:rPr>
                        <a:t>Высокий</a:t>
                      </a:r>
                    </a:p>
                  </a:txBody>
                  <a:tcPr marL="109728" marR="10972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Arial"/>
                        </a:rPr>
                        <a:t>Финансовый аналитик, аудит данных</a:t>
                      </a:r>
                    </a:p>
                  </a:txBody>
                  <a:tcPr marL="109728" marR="109728" anchor="ctr">
                    <a:solidFill>
                      <a:srgbClr val="E9ECE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A365D"/>
                          </a:solidFill>
                          <a:latin typeface="Arial"/>
                        </a:rPr>
                        <a:t>Водитель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DD6B20"/>
                          </a:solidFill>
                          <a:latin typeface="Arial"/>
                        </a:rPr>
                        <a:t>Высокий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Arial"/>
                        </a:rPr>
                        <a:t>Оператор автопарка, логистика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A365D"/>
                          </a:solidFill>
                          <a:latin typeface="Arial"/>
                        </a:rPr>
                        <a:t>Учитель</a:t>
                      </a:r>
                    </a:p>
                  </a:txBody>
                  <a:tcPr marL="109728" marR="10972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A365D"/>
                          </a:solidFill>
                          <a:latin typeface="Arial"/>
                        </a:rPr>
                        <a:t>Низкий</a:t>
                      </a:r>
                    </a:p>
                  </a:txBody>
                  <a:tcPr marL="109728" marR="10972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Arial"/>
                        </a:rPr>
                        <a:t>Методист онлайн-курсов, тьютор</a:t>
                      </a:r>
                    </a:p>
                  </a:txBody>
                  <a:tcPr marL="109728" marR="109728" anchor="ctr">
                    <a:solidFill>
                      <a:srgbClr val="E9ECE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A365D"/>
                          </a:solidFill>
                          <a:latin typeface="Arial"/>
                        </a:rPr>
                        <a:t>Врач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A365D"/>
                          </a:solidFill>
                          <a:latin typeface="Arial"/>
                        </a:rPr>
                        <a:t>Низкий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Arial"/>
                        </a:rPr>
                        <a:t>Телемедицина, аналитик медданных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585216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Одна и та же профессия может терять рутинные задачи и получать новые роли.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4" name="TextBox 15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9 / 14</a:t>
            </a:r>
          </a:p>
        </p:txBody>
      </p:sp>
    </p:spTree>
  </p:cSld>
  <p:clrMapOvr>
    <a:masterClrMapping/>
  </p:clrMapOvr>
  <p:timing>
    <p:tnLst>
      <p:seq concurrent="1" nextAc="seek">
        <p:cTn id="1" dur="indefinite" nodeType="mainSeq">
          <p:childTnLst>
            <p:par>
              <p:cTn id="151" fill="hold" nodeType="clickEffect">
                <p:stCondLst>
                  <p:cond delay="0"/>
                </p:stCondLst>
                <p:childTnLst>
                  <p:animEffect transition="in" filter="fade">
                    <p:cBhvr>
                      <p:cTn id="152" dur="500"/>
                      <p:tgtEl>
                        <p:spTgt spid="5"/>
                      </p:tgtEl>
                    </p:cBhvr>
                  </p:animEffect>
                </p:childTnLst>
              </p:cTn>
            </p:par>
          </p:childTnLst>
        </p:cTn>
        <p:prevCondLst/>
        <p:nextCondLst/>
      </p:seq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137160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1755648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213969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8" y="2523744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290779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329183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367588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405993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" y="444398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482803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521207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" y="559612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598017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2415" y="137160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2415" y="1755648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2415" y="213969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2415" y="2523744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2415" y="290779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2415" y="329183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2415" y="367588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42415" y="405993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2415" y="444398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2415" y="482803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2415" y="521207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2415" y="559612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42415" y="598017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26463" y="137160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6463" y="1755648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26463" y="213969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426463" y="2523744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26463" y="290779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26463" y="329183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426463" y="367588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426463" y="405993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426463" y="444398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426463" y="482803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426463" y="521207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426463" y="559612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426463" y="598017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10511" y="137160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10511" y="1755648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10511" y="213969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10511" y="2523744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10511" y="290779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810511" y="329183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810511" y="367588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810511" y="405993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810511" y="444398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810511" y="482803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810511" y="521207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810511" y="559612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10511" y="598017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194560" y="137160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194560" y="1755648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94560" y="213969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194560" y="2523744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94560" y="290779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194560" y="329183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94560" y="367588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194560" y="405993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194560" y="444398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194560" y="482803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194560" y="521207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194560" y="559612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194560" y="598017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578608" y="137160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578608" y="1755648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578608" y="213969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578608" y="2523744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578608" y="290779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578608" y="329183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578608" y="367588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578608" y="405993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578608" y="444398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578608" y="482803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578608" y="521207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578608" y="559612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578608" y="598017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962656" y="137160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962656" y="1755648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962656" y="213969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962656" y="2523744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962656" y="290779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962656" y="329183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2962656" y="367588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2962656" y="405993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962656" y="444398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962656" y="482803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962656" y="521207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962656" y="559612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962656" y="598017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346703" y="137160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346703" y="1755648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346703" y="213969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346703" y="2523744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346703" y="290779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346703" y="329183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346703" y="367588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346703" y="405993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346703" y="444398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346703" y="482803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346703" y="521207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346703" y="559612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346703" y="598017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730752" y="1371600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730752" y="1755648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730752" y="2139696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730752" y="2523744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3730752" y="290779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30752" y="329183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730752" y="367588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730752" y="405993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730752" y="4443983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3730752" y="4828031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730752" y="5212079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3730752" y="5596127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730752" y="5980175"/>
            <a:ext cx="45720" cy="45720"/>
          </a:xfrm>
          <a:prstGeom prst="ellipse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58368" y="502920"/>
            <a:ext cx="1087495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365D"/>
                </a:solidFill>
                <a:latin typeface="Arial"/>
              </a:rPr>
              <a:t>Кем станут люди?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658368" y="1298448"/>
            <a:ext cx="1920240" cy="0"/>
          </a:xfrm>
          <a:prstGeom prst="line">
            <a:avLst/>
          </a:prstGeom>
          <a:ln w="38100">
            <a:solidFill>
              <a:srgbClr val="1A36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658368" y="155448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Вместе с автоматизацией появляются новые профессии на стыке человека и ИИ.</a:t>
            </a:r>
          </a:p>
        </p:txBody>
      </p:sp>
      <p:pic>
        <p:nvPicPr>
          <p:cNvPr id="123" name="Picture 122" descr="people_1A36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71800"/>
            <a:ext cx="1051560" cy="1051560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1755648" y="370332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365D"/>
                </a:solidFill>
                <a:latin typeface="Arial"/>
              </a:rPr>
              <a:t>Человек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92808" y="3246120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DD6B20"/>
                </a:solidFill>
                <a:latin typeface="Arial"/>
              </a:rPr>
              <a:t>+</a:t>
            </a:r>
          </a:p>
        </p:txBody>
      </p:sp>
      <p:pic>
        <p:nvPicPr>
          <p:cNvPr id="126" name="Picture 125" descr="robot_DD6B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08" y="2971800"/>
            <a:ext cx="1051560" cy="1051560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2670048" y="37033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D6B20"/>
                </a:solidFill>
                <a:latin typeface="Arial"/>
              </a:rPr>
              <a:t>ИИ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58368" y="42976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Новые роли</a:t>
            </a:r>
          </a:p>
        </p:txBody>
      </p:sp>
      <p:pic>
        <p:nvPicPr>
          <p:cNvPr id="129" name="Picture 128" descr="code_1A36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020824"/>
            <a:ext cx="603504" cy="603504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5276088" y="1965960"/>
            <a:ext cx="625723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365D"/>
                </a:solidFill>
                <a:latin typeface="Arial"/>
              </a:rPr>
              <a:t>Инженер по машинному обучению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строит и обучает модели</a:t>
            </a:r>
          </a:p>
        </p:txBody>
      </p:sp>
      <p:pic>
        <p:nvPicPr>
          <p:cNvPr id="131" name="Picture 130" descr="scale_1A36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2953512"/>
            <a:ext cx="603504" cy="603504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5276088" y="2898648"/>
            <a:ext cx="625723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365D"/>
                </a:solidFill>
                <a:latin typeface="Arial"/>
              </a:rPr>
              <a:t>Специалист по этике ИИ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правила и ответственность</a:t>
            </a:r>
          </a:p>
        </p:txBody>
      </p:sp>
      <p:pic>
        <p:nvPicPr>
          <p:cNvPr id="133" name="Picture 132" descr="book_1A365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3128" y="3886199"/>
            <a:ext cx="603504" cy="603504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5276088" y="3831335"/>
            <a:ext cx="625723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365D"/>
                </a:solidFill>
                <a:latin typeface="Arial"/>
              </a:rPr>
              <a:t>Тренер ИИ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готовит данные и оценивает качество</a:t>
            </a:r>
          </a:p>
        </p:txBody>
      </p:sp>
      <p:pic>
        <p:nvPicPr>
          <p:cNvPr id="135" name="Picture 134" descr="analytics_1A365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3128" y="4818888"/>
            <a:ext cx="603504" cy="603504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5276088" y="4764024"/>
            <a:ext cx="625723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365D"/>
                </a:solidFill>
                <a:latin typeface="Arial"/>
              </a:rPr>
              <a:t>Аналитик данных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превращает данные в решения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8" name="TextBox 137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365D"/>
                </a:solidFill>
                <a:latin typeface="Arial"/>
              </a:rPr>
              <a:t>Что нас ждёт? Прогноз до 2030 года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920240" cy="0"/>
          </a:xfrm>
          <a:prstGeom prst="line">
            <a:avLst/>
          </a:prstGeom>
          <a:ln w="38100">
            <a:solidFill>
              <a:srgbClr val="1A36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55448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Спрос на профессии, 2024 = 100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49808" y="1965960"/>
          <a:ext cx="10692079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94360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Источники: ВЭФ, доклад «Будущее рабочих мест»; PwC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lock Arc 2"/>
          <p:cNvSpPr/>
          <p:nvPr/>
        </p:nvSpPr>
        <p:spPr>
          <a:xfrm>
            <a:off x="-2926080" y="3931920"/>
            <a:ext cx="5852160" cy="5852160"/>
          </a:xfrm>
          <a:prstGeom prst="blockArc">
            <a:avLst/>
          </a:prstGeom>
          <a:noFill/>
          <a:ln w="254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-2194560" y="4663440"/>
            <a:ext cx="4389120" cy="4389120"/>
          </a:xfrm>
          <a:prstGeom prst="blockArc">
            <a:avLst/>
          </a:prstGeom>
          <a:noFill/>
          <a:ln w="254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1087495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365D"/>
                </a:solidFill>
                <a:latin typeface="Arial"/>
              </a:rPr>
              <a:t>Навыки будущего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298448"/>
            <a:ext cx="1920240" cy="0"/>
          </a:xfrm>
          <a:prstGeom prst="line">
            <a:avLst/>
          </a:prstGeom>
          <a:ln w="38100">
            <a:solidFill>
              <a:srgbClr val="1A36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55448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Четыре опоры адаптации к автоматизированной экономике.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86000"/>
            <a:ext cx="5208879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286000"/>
            <a:ext cx="128016" cy="1737360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ook_DD6B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670048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67128" y="2542032"/>
            <a:ext cx="347151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Непрерывное обучение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учиться всю жизнь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24447" y="2286000"/>
            <a:ext cx="5208879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24447" y="2286000"/>
            <a:ext cx="128016" cy="1737360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people_DD6B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207" y="2670048"/>
            <a:ext cx="914400" cy="914400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7833207" y="2542032"/>
            <a:ext cx="347151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Soft skills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эмпатия и коммуникация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58368" y="4434840"/>
            <a:ext cx="5208879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8368" y="4434840"/>
            <a:ext cx="128016" cy="1737360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1" name="Picture 160" descr="code_DD6B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818888"/>
            <a:ext cx="914400" cy="914400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2167128" y="4690872"/>
            <a:ext cx="347151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Цифровая грамотность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работа с данными и ИИ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24447" y="4434840"/>
            <a:ext cx="5208879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324447" y="4434840"/>
            <a:ext cx="128016" cy="1737360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5" name="Picture 164" descr="brain_DD6B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207" y="4818888"/>
            <a:ext cx="914400" cy="914400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7833207" y="4690872"/>
            <a:ext cx="347151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365D"/>
                </a:solidFill>
                <a:latin typeface="Arial"/>
              </a:rPr>
              <a:t>Критическое мышление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проверять и решать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8" name="TextBox 167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12 / 14</a:t>
            </a:r>
          </a:p>
        </p:txBody>
      </p:sp>
    </p:spTree>
  </p:cSld>
  <p:clrMapOvr>
    <a:masterClrMapping/>
  </p:clrMapOvr>
  <p:timing>
    <p:tnLst>
      <p:seq concurrent="1" nextAc="seek">
        <p:cTn id="1" dur="indefinite" nodeType="mainSeq">
          <p:childTnLst>
            <p:par>
              <p:cTn id="153" fill="hold" nodeType="clickEffect">
                <p:stCondLst>
                  <p:cond delay="0"/>
                </p:stCondLst>
                <p:childTnLst>
                  <p:animEffect transition="in" filter="fade">
                    <p:cBhvr>
                      <p:cTn id="154" dur="500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155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156" dur="500"/>
                      <p:tgtEl>
                        <p:spTgt spid="155"/>
                      </p:tgtEl>
                    </p:cBhvr>
                  </p:animEffect>
                </p:childTnLst>
              </p:cTn>
            </p:par>
            <p:par>
              <p:cTn id="157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158" dur="500"/>
                      <p:tgtEl>
                        <p:spTgt spid="159"/>
                      </p:tgtEl>
                    </p:cBhvr>
                  </p:animEffect>
                </p:childTnLst>
              </p:cTn>
            </p:par>
            <p:par>
              <p:cTn id="159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160" dur="500"/>
                      <p:tgtEl>
                        <p:spTgt spid="163"/>
                      </p:tgtEl>
                    </p:cBhvr>
                  </p:animEffect>
                </p:childTnLst>
              </p:cTn>
            </p:par>
          </p:childTnLst>
        </p:cTn>
        <p:prevCondLst/>
        <p:nextCondLst/>
      </p:seq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365D"/>
                </a:solidFill>
                <a:latin typeface="Arial"/>
              </a:rPr>
              <a:t>Главное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920240" cy="0"/>
          </a:xfrm>
          <a:prstGeom prst="line">
            <a:avLst/>
          </a:prstGeom>
          <a:ln w="38100">
            <a:solidFill>
              <a:srgbClr val="1A36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58368" y="1920240"/>
            <a:ext cx="109728" cy="914400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1920240"/>
            <a:ext cx="10372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DD6B20"/>
                </a:solidFill>
                <a:latin typeface="Arial"/>
              </a:rPr>
              <a:t>1.  </a:t>
            </a:r>
            <a:r>
              <a:rPr sz="2600" b="1" i="0">
                <a:solidFill>
                  <a:srgbClr val="1A365D"/>
                </a:solidFill>
                <a:latin typeface="Arial"/>
              </a:rPr>
              <a:t>ИИ не уничтожает профессии — он меняет их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090672"/>
            <a:ext cx="109728" cy="914400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090672"/>
            <a:ext cx="10372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DD6B20"/>
                </a:solidFill>
                <a:latin typeface="Arial"/>
              </a:rPr>
              <a:t>2.  </a:t>
            </a:r>
            <a:r>
              <a:rPr sz="2600" b="1" i="0">
                <a:solidFill>
                  <a:srgbClr val="1A365D"/>
                </a:solidFill>
                <a:latin typeface="Arial"/>
              </a:rPr>
              <a:t>Уникальные человеческие навыки — главный актив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261104"/>
            <a:ext cx="109728" cy="914400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4261104"/>
            <a:ext cx="10372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DD6B20"/>
                </a:solidFill>
                <a:latin typeface="Arial"/>
              </a:rPr>
              <a:t>3.  </a:t>
            </a:r>
            <a:r>
              <a:rPr sz="2600" b="1" i="0">
                <a:solidFill>
                  <a:srgbClr val="1A365D"/>
                </a:solidFill>
                <a:latin typeface="Arial"/>
              </a:rPr>
              <a:t>Адаптация идёт через непрерывное обучение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C757D"/>
                </a:solidFill>
                <a:latin typeface="Arial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44805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48828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528523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56875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08990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6492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2336" y="44805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2336" y="48828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2336" y="528523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02336" y="56875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2336" y="608990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2336" y="6492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4672" y="44805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48828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2" y="528523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56875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608990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672" y="6492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07008" y="44805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07008" y="48828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07008" y="528523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07008" y="56875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07008" y="608990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07008" y="6492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09344" y="44805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609344" y="48828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09344" y="528523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609344" y="56875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609344" y="608990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609344" y="6492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11680" y="44805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011680" y="48828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011680" y="528523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011680" y="56875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011680" y="608990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011680" y="6492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414016" y="44805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14016" y="48828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414016" y="528523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414016" y="56875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414016" y="608990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414016" y="6492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816352" y="44805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816352" y="48828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816352" y="528523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816352" y="56875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816352" y="608990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816352" y="6492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218688" y="44805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218688" y="48828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218688" y="528523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218688" y="56875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218688" y="608990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218688" y="6492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621024" y="44805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621024" y="48828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621024" y="528523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621024" y="56875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621024" y="608990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621024" y="6492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023360" y="44805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023360" y="48828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023360" y="528523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023360" y="56875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023360" y="608990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023360" y="6492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425696" y="448056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425696" y="4882896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425696" y="5285232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425696" y="5687568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425696" y="6089904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425696" y="6492240"/>
            <a:ext cx="45720" cy="45720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Block Arc 74"/>
          <p:cNvSpPr/>
          <p:nvPr/>
        </p:nvSpPr>
        <p:spPr>
          <a:xfrm>
            <a:off x="8168335" y="-4023360"/>
            <a:ext cx="8046720" cy="8046720"/>
          </a:xfrm>
          <a:prstGeom prst="blockArc">
            <a:avLst/>
          </a:prstGeom>
          <a:noFill/>
          <a:ln w="25400">
            <a:solidFill>
              <a:srgbClr val="2E4C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Block Arc 75"/>
          <p:cNvSpPr/>
          <p:nvPr/>
        </p:nvSpPr>
        <p:spPr>
          <a:xfrm>
            <a:off x="9082735" y="-3108960"/>
            <a:ext cx="6217920" cy="6217920"/>
          </a:xfrm>
          <a:prstGeom prst="blockArc">
            <a:avLst/>
          </a:prstGeom>
          <a:noFill/>
          <a:ln w="25400">
            <a:solidFill>
              <a:srgbClr val="2E4C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Block Arc 76"/>
          <p:cNvSpPr/>
          <p:nvPr/>
        </p:nvSpPr>
        <p:spPr>
          <a:xfrm>
            <a:off x="9905695" y="-2286000"/>
            <a:ext cx="4572000" cy="4572000"/>
          </a:xfrm>
          <a:prstGeom prst="blockArc">
            <a:avLst/>
          </a:prstGeom>
          <a:noFill/>
          <a:ln w="25400">
            <a:solidFill>
              <a:srgbClr val="2E4C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49808" y="10972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Спасибо за внимание!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49808" y="2468880"/>
            <a:ext cx="2286000" cy="0"/>
          </a:xfrm>
          <a:prstGeom prst="line">
            <a:avLst/>
          </a:prstGeom>
          <a:ln w="50800">
            <a:solidFill>
              <a:srgbClr val="DD6B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49808" y="2697480"/>
            <a:ext cx="7498079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DD6B20"/>
                </a:solidFill>
                <a:latin typeface="Arial"/>
              </a:rPr>
              <a:t>Источники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C9D6E8"/>
                </a:solidFill>
                <a:latin typeface="Arial"/>
              </a:rPr>
              <a:t>•  Капелюшников Р. И. Риски внедрения ИИ для занятости в России // Вопросы экономики, 2025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C9D6E8"/>
                </a:solidFill>
                <a:latin typeface="Arial"/>
              </a:rPr>
              <a:t>•  МВФ. Искусственный интеллект и будущее работы, 2024 (на русском)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C9D6E8"/>
                </a:solidFill>
                <a:latin typeface="Arial"/>
              </a:rPr>
              <a:t>•  Атлас новых профессий 3.0 / под ред. Д. Варламовой, Д. Судакова. М.: Альпина ПРО, 2021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C9D6E8"/>
                </a:solidFill>
                <a:latin typeface="Arial"/>
              </a:rPr>
              <a:t>•  ИСИЭЗ НИУ ВШЭ. Навыки работы с ИИ на российском рынке труда, 2025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C9D6E8"/>
                </a:solidFill>
                <a:latin typeface="Arial"/>
              </a:rPr>
              <a:t>•  Frey C. B., Osborne M. A. The Future of Employment. Oxford, 2017</a:t>
            </a:r>
          </a:p>
        </p:txBody>
      </p:sp>
      <p:pic>
        <p:nvPicPr>
          <p:cNvPr id="82" name="Picture 81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4487" y="2834640"/>
            <a:ext cx="2148840" cy="214884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9384487" y="50749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9D6E8"/>
                </a:solidFill>
                <a:latin typeface="Arial"/>
              </a:rPr>
              <a:t>Проект на GitHub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9808" y="6035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FA6C4"/>
                </a:solidFill>
                <a:latin typeface="Arial"/>
              </a:rPr>
              <a:t>Кобзев Тимой   ·   Академическая группа ИС-24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